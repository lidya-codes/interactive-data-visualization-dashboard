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1" r:id="rId6"/>
    <p:sldId id="263" r:id="rId7"/>
    <p:sldId id="264" r:id="rId8"/>
    <p:sldId id="265" r:id="rId9"/>
    <p:sldId id="267" r:id="rId10"/>
    <p:sldId id="269" r:id="rId11"/>
    <p:sldId id="270" r:id="rId12"/>
    <p:sldId id="260" r:id="rId1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12744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08A02-8E18-9F4E-B5ED-0A604A4407A6}" v="450" dt="2025-11-08T13:56:55.941"/>
    <p1510:client id="{09AC14BD-CF4E-4015-B1E8-458E475BB940}" v="246" dt="2025-11-07T20:05:37.912"/>
    <p1510:client id="{146CD856-1CE1-1DAE-5F8C-8343693EABAD}" v="29" dt="2025-11-07T20:10:13.676"/>
    <p1510:client id="{35E73C04-ABDF-4540-B207-1C8F99E95994}" v="652" dt="2025-11-08T13:57:21.788"/>
    <p1510:client id="{DF019FB9-0536-A6F2-F46A-0632ECFD9422}" v="189" vWet="190" dt="2025-11-07T20:01:56.733"/>
    <p1510:client id="{F1951D7F-545D-2E4B-7512-4B25E48FBF46}" v="8" dt="2025-11-08T13:27:22.654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86935" autoAdjust="0"/>
  </p:normalViewPr>
  <p:slideViewPr>
    <p:cSldViewPr snapToGrid="0">
      <p:cViewPr varScale="1">
        <p:scale>
          <a:sx n="113" d="100"/>
          <a:sy n="113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diqa Baig" userId="05ea6e52-7a33-42b8-83e4-fcdb461fba13" providerId="ADAL" clId="{F6737827-E874-5C39-8B04-685E505EE3BE}"/>
    <pc:docChg chg="undo custSel delSld modSld">
      <pc:chgData name="Wadiqa Baig" userId="05ea6e52-7a33-42b8-83e4-fcdb461fba13" providerId="ADAL" clId="{F6737827-E874-5C39-8B04-685E505EE3BE}" dt="2025-11-08T14:08:48.971" v="9" actId="1076"/>
      <pc:docMkLst>
        <pc:docMk/>
      </pc:docMkLst>
      <pc:sldChg chg="modSp mod">
        <pc:chgData name="Wadiqa Baig" userId="05ea6e52-7a33-42b8-83e4-fcdb461fba13" providerId="ADAL" clId="{F6737827-E874-5C39-8B04-685E505EE3BE}" dt="2025-11-08T14:08:41.354" v="7" actId="1076"/>
        <pc:sldMkLst>
          <pc:docMk/>
          <pc:sldMk cId="1662703117" sldId="256"/>
        </pc:sldMkLst>
        <pc:spChg chg="mod">
          <ac:chgData name="Wadiqa Baig" userId="05ea6e52-7a33-42b8-83e4-fcdb461fba13" providerId="ADAL" clId="{F6737827-E874-5C39-8B04-685E505EE3BE}" dt="2025-11-08T14:08:41.354" v="7" actId="1076"/>
          <ac:spMkLst>
            <pc:docMk/>
            <pc:sldMk cId="1662703117" sldId="256"/>
            <ac:spMk id="4" creationId="{60671095-69F4-2321-81CB-9E3759007AF0}"/>
          </ac:spMkLst>
        </pc:spChg>
        <pc:picChg chg="mod">
          <ac:chgData name="Wadiqa Baig" userId="05ea6e52-7a33-42b8-83e4-fcdb461fba13" providerId="ADAL" clId="{F6737827-E874-5C39-8B04-685E505EE3BE}" dt="2025-11-08T14:08:17.420" v="4" actId="1076"/>
          <ac:picMkLst>
            <pc:docMk/>
            <pc:sldMk cId="1662703117" sldId="256"/>
            <ac:picMk id="6" creationId="{77265E62-A21F-42C0-9E45-C19359546969}"/>
          </ac:picMkLst>
        </pc:picChg>
      </pc:sldChg>
      <pc:sldChg chg="modSp mod">
        <pc:chgData name="Wadiqa Baig" userId="05ea6e52-7a33-42b8-83e4-fcdb461fba13" providerId="ADAL" clId="{F6737827-E874-5C39-8B04-685E505EE3BE}" dt="2025-11-08T14:08:48.971" v="9" actId="1076"/>
        <pc:sldMkLst>
          <pc:docMk/>
          <pc:sldMk cId="227806116" sldId="261"/>
        </pc:sldMkLst>
        <pc:spChg chg="mod">
          <ac:chgData name="Wadiqa Baig" userId="05ea6e52-7a33-42b8-83e4-fcdb461fba13" providerId="ADAL" clId="{F6737827-E874-5C39-8B04-685E505EE3BE}" dt="2025-11-08T14:08:48.971" v="9" actId="1076"/>
          <ac:spMkLst>
            <pc:docMk/>
            <pc:sldMk cId="227806116" sldId="261"/>
            <ac:spMk id="3" creationId="{909E0554-FBB2-B1B2-69EA-B038C1EC40A6}"/>
          </ac:spMkLst>
        </pc:spChg>
      </pc:sldChg>
      <pc:sldChg chg="del">
        <pc:chgData name="Wadiqa Baig" userId="05ea6e52-7a33-42b8-83e4-fcdb461fba13" providerId="ADAL" clId="{F6737827-E874-5C39-8B04-685E505EE3BE}" dt="2025-11-08T14:07:56.745" v="0" actId="2696"/>
        <pc:sldMkLst>
          <pc:docMk/>
          <pc:sldMk cId="1390505479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4949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36668-6857-41D1-917C-C91F2B9BDFA3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2ABE8-A107-4F42-8B0F-CF779649CC34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01370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2ABE8-A107-4F42-8B0F-CF779649CC34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086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C4200E6-1C16-4404-83F8-EF6DCDBB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3800" y="5881890"/>
            <a:ext cx="3073400" cy="6814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0A8D6-DD04-4121-AB52-7892764DF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628775"/>
            <a:ext cx="11129963" cy="2002284"/>
          </a:xfrm>
        </p:spPr>
        <p:txBody>
          <a:bodyPr lIns="152400"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A873E-9927-496B-A60D-0D7706CD8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973484"/>
            <a:ext cx="11125200" cy="16209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C250-C316-42F3-80D9-22493FC5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6167711"/>
            <a:ext cx="2285998" cy="365125"/>
          </a:xfrm>
        </p:spPr>
        <p:txBody>
          <a:bodyPr/>
          <a:lstStyle/>
          <a:p>
            <a:fld id="{719CFD8D-4294-499E-818A-AD557040F3FB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0712-C9C0-4A20-9A25-43FC95F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67712"/>
            <a:ext cx="4114800" cy="365125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70265-5103-48D8-8097-3045DFAD50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7637" y="304800"/>
            <a:ext cx="1239563" cy="12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7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C4200E6-1C16-4404-83F8-EF6DCDBBB2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5036" y="5867376"/>
            <a:ext cx="3074400" cy="748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0A8D6-DD04-4121-AB52-7892764DF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628775"/>
            <a:ext cx="11129963" cy="2002284"/>
          </a:xfrm>
        </p:spPr>
        <p:txBody>
          <a:bodyPr lIns="152400" anchor="b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A873E-9927-496B-A60D-0D7706CD8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973484"/>
            <a:ext cx="11125200" cy="16209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C250-C316-42F3-80D9-22493FC5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6167711"/>
            <a:ext cx="2285998" cy="365125"/>
          </a:xfrm>
        </p:spPr>
        <p:txBody>
          <a:bodyPr/>
          <a:lstStyle/>
          <a:p>
            <a:fld id="{719CFD8D-4294-499E-818A-AD557040F3FB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0712-C9C0-4A20-9A25-43FC95F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67712"/>
            <a:ext cx="4114800" cy="365125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70265-5103-48D8-8097-3045DFAD5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7637" y="304800"/>
            <a:ext cx="1239563" cy="12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9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0055-909C-4D10-B577-5C357CE7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5D7F-6460-4E63-808F-E203E13C0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8AA5-3688-4F8D-ABE7-540EED3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A0798211-CC58-4578-9C03-CE1E607ECC8E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53924-F4D4-4CB2-BA5D-17ADC19D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0BF54-D59E-49C9-B322-C7F875EF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7C9D-7BD1-4F56-A474-DCEEE9B081CA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431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ogo, icon&#10;&#10;Description automatically generated">
            <a:extLst>
              <a:ext uri="{FF2B5EF4-FFF2-40B4-BE49-F238E27FC236}">
                <a16:creationId xmlns:a16="http://schemas.microsoft.com/office/drawing/2014/main" id="{FE61C156-68AD-46E6-9D9C-629E5FD3B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06" y="5994808"/>
            <a:ext cx="1046356" cy="55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93FD7B-BD5F-4457-94E4-8F71BA32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250441"/>
            <a:ext cx="11120121" cy="2032418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CD44D-5F06-4C11-8801-7CB885475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999" y="4366475"/>
            <a:ext cx="11120121" cy="151045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9572-BD1A-4948-878B-63C5A403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6165850"/>
            <a:ext cx="2285998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>
                <a:solidFill>
                  <a:schemeClr val="tx1"/>
                </a:solidFill>
              </a:defRPr>
            </a:lvl1pPr>
          </a:lstStyle>
          <a:p>
            <a:fld id="{1532EEB8-E699-4074-A0D7-399256B5AF63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6C118-5B99-4077-9C7D-B73A9C9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70791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874CD-67D6-4D52-BDF8-7E41376A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2" y="6188074"/>
            <a:ext cx="1268626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>
                <a:solidFill>
                  <a:schemeClr val="tx1"/>
                </a:solidFill>
              </a:defRPr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3885AD-7504-4322-8570-7611D90F2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691023"/>
            <a:ext cx="9650627" cy="1516297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0" b="1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AU"/>
              <a:t>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15CD4D-1EB4-48D5-A312-D0C7DEEB62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0262" y="361874"/>
            <a:ext cx="1238400" cy="12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5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ogo, icon&#10;&#10;Description automatically generated">
            <a:extLst>
              <a:ext uri="{FF2B5EF4-FFF2-40B4-BE49-F238E27FC236}">
                <a16:creationId xmlns:a16="http://schemas.microsoft.com/office/drawing/2014/main" id="{FE61C156-68AD-46E6-9D9C-629E5FD3B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06" y="5994808"/>
            <a:ext cx="1046356" cy="55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93FD7B-BD5F-4457-94E4-8F71BA32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250441"/>
            <a:ext cx="11120121" cy="2032418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CD44D-5F06-4C11-8801-7CB885475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999" y="4366475"/>
            <a:ext cx="11120121" cy="151045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9572-BD1A-4948-878B-63C5A403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6165850"/>
            <a:ext cx="2285998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>
                <a:solidFill>
                  <a:schemeClr val="bg1"/>
                </a:solidFill>
              </a:defRPr>
            </a:lvl1pPr>
          </a:lstStyle>
          <a:p>
            <a:fld id="{1532EEB8-E699-4074-A0D7-399256B5AF63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6C118-5B99-4077-9C7D-B73A9C9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70791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874CD-67D6-4D52-BDF8-7E41376A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2" y="6188074"/>
            <a:ext cx="1268626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>
                <a:solidFill>
                  <a:schemeClr val="bg1"/>
                </a:solidFill>
              </a:defRPr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3885AD-7504-4322-8570-7611D90F2F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691023"/>
            <a:ext cx="9650627" cy="1516297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0" b="1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AU"/>
              <a:t>1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FB15CD4D-1EB4-48D5-A312-D0C7DEEB62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538" y="330995"/>
            <a:ext cx="1238400" cy="12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8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to country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93D3F-87C0-4CE8-B676-639797BC6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D06C259-19BC-4BF9-908B-4D37FEC7D0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052" y="1084371"/>
            <a:ext cx="9318930" cy="2032418"/>
          </a:xfrm>
        </p:spPr>
        <p:txBody>
          <a:bodyPr anchor="ctr" anchorCtr="0">
            <a:no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A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F5FAD9C-9714-4956-897B-6246DCFBD90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74539" y="3876346"/>
            <a:ext cx="6107186" cy="2222097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D355FA-4F04-4A07-B2B3-146860FE71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2500" y="2481263"/>
            <a:ext cx="7414482" cy="1139825"/>
          </a:xfrm>
        </p:spPr>
        <p:txBody>
          <a:bodyPr>
            <a:noAutofit/>
          </a:bodyPr>
          <a:lstStyle>
            <a:lvl1pPr marL="0" indent="0">
              <a:buNone/>
              <a:defRPr sz="7000">
                <a:solidFill>
                  <a:schemeClr val="bg1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sub-text</a:t>
            </a:r>
          </a:p>
        </p:txBody>
      </p:sp>
    </p:spTree>
    <p:extLst>
      <p:ext uri="{BB962C8B-B14F-4D97-AF65-F5344CB8AC3E}">
        <p14:creationId xmlns:p14="http://schemas.microsoft.com/office/powerpoint/2010/main" val="152445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to country -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93D3F-87C0-4CE8-B676-639797BC6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EDE59EB-3358-4956-85DF-3FF5256DD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222" y="1084371"/>
            <a:ext cx="9346759" cy="2032418"/>
          </a:xfrm>
        </p:spPr>
        <p:txBody>
          <a:bodyPr anchor="ctr" anchorCtr="0">
            <a:no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4F69C-E956-435C-B337-1A25BA1106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2500" y="2481263"/>
            <a:ext cx="7414482" cy="1139825"/>
          </a:xfrm>
        </p:spPr>
        <p:txBody>
          <a:bodyPr>
            <a:noAutofit/>
          </a:bodyPr>
          <a:lstStyle>
            <a:lvl1pPr marL="0" indent="0">
              <a:buNone/>
              <a:defRPr sz="700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sub-text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7602783-34FD-4B6D-A82D-F1C47C47E1D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74539" y="3876346"/>
            <a:ext cx="6107186" cy="2222097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Description</a:t>
            </a:r>
          </a:p>
        </p:txBody>
      </p:sp>
    </p:spTree>
    <p:extLst>
      <p:ext uri="{BB962C8B-B14F-4D97-AF65-F5344CB8AC3E}">
        <p14:creationId xmlns:p14="http://schemas.microsoft.com/office/powerpoint/2010/main" val="99786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to country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93D3F-87C0-4CE8-B676-639797BC66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9B59021-78A1-4881-BA8C-A9B202C30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223" y="1084371"/>
            <a:ext cx="9346760" cy="2032418"/>
          </a:xfrm>
        </p:spPr>
        <p:txBody>
          <a:bodyPr anchor="ctr" anchorCtr="0">
            <a:no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AU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532C1BD-B61C-4E43-AC2B-9D9C43BF2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2499" y="2481263"/>
            <a:ext cx="7414483" cy="1139825"/>
          </a:xfrm>
        </p:spPr>
        <p:txBody>
          <a:bodyPr>
            <a:noAutofit/>
          </a:bodyPr>
          <a:lstStyle>
            <a:lvl1pPr marL="0" indent="0">
              <a:buNone/>
              <a:defRPr sz="700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sub-text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6D6722F-111D-4FF1-8F91-5B3CED25AC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74539" y="3876346"/>
            <a:ext cx="6107186" cy="2222097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Description</a:t>
            </a:r>
          </a:p>
        </p:txBody>
      </p:sp>
    </p:spTree>
    <p:extLst>
      <p:ext uri="{BB962C8B-B14F-4D97-AF65-F5344CB8AC3E}">
        <p14:creationId xmlns:p14="http://schemas.microsoft.com/office/powerpoint/2010/main" val="131361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C4200E6-1C16-4404-83F8-EF6DCDBB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3800" y="5881890"/>
            <a:ext cx="3073400" cy="68146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A9A873E-9927-496B-A60D-0D7706CD8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3969327"/>
            <a:ext cx="11125200" cy="1620981"/>
          </a:xfrm>
        </p:spPr>
        <p:txBody>
          <a:bodyPr>
            <a:normAutofit/>
          </a:bodyPr>
          <a:lstStyle>
            <a:lvl1pPr marL="0" indent="0" algn="l">
              <a:buNone/>
              <a:defRPr sz="3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Contact information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C250-C316-42F3-80D9-22493FC5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1" y="6156545"/>
            <a:ext cx="2285998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719CFD8D-4294-499E-818A-AD557040F3FB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0712-C9C0-4A20-9A25-43FC95F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70265-5103-48D8-8097-3045DFAD50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7637" y="304800"/>
            <a:ext cx="1239563" cy="12395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73783D-9909-4274-ABFA-E574D02B1BEE}"/>
              </a:ext>
            </a:extLst>
          </p:cNvPr>
          <p:cNvSpPr txBox="1">
            <a:spLocks/>
          </p:cNvSpPr>
          <p:nvPr userDrawn="1"/>
        </p:nvSpPr>
        <p:spPr>
          <a:xfrm>
            <a:off x="762000" y="1181262"/>
            <a:ext cx="11129963" cy="2430617"/>
          </a:xfrm>
          <a:prstGeom prst="rect">
            <a:avLst/>
          </a:prstGeom>
        </p:spPr>
        <p:txBody>
          <a:bodyPr vert="horz" lIns="152400" tIns="152400" rIns="152400" bIns="15240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311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C4200E6-1C16-4404-83F8-EF6DCDBBB2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1048" y="5848895"/>
            <a:ext cx="3074400" cy="80781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A9A873E-9927-496B-A60D-0D7706CD8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3969327"/>
            <a:ext cx="11125200" cy="1620981"/>
          </a:xfrm>
        </p:spPr>
        <p:txBody>
          <a:bodyPr>
            <a:normAutofit/>
          </a:bodyPr>
          <a:lstStyle>
            <a:lvl1pPr marL="0" indent="0" algn="l">
              <a:buNone/>
              <a:defRPr sz="3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Contact information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C250-C316-42F3-80D9-22493FC5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1" y="6156545"/>
            <a:ext cx="2285998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719CFD8D-4294-499E-818A-AD557040F3FB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0712-C9C0-4A20-9A25-43FC95F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70265-5103-48D8-8097-3045DFAD5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7637" y="304800"/>
            <a:ext cx="1239563" cy="12395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73783D-9909-4274-ABFA-E574D02B1BEE}"/>
              </a:ext>
            </a:extLst>
          </p:cNvPr>
          <p:cNvSpPr txBox="1">
            <a:spLocks/>
          </p:cNvSpPr>
          <p:nvPr userDrawn="1"/>
        </p:nvSpPr>
        <p:spPr>
          <a:xfrm>
            <a:off x="762000" y="1181262"/>
            <a:ext cx="11129963" cy="2430617"/>
          </a:xfrm>
          <a:prstGeom prst="rect">
            <a:avLst/>
          </a:prstGeom>
        </p:spPr>
        <p:txBody>
          <a:bodyPr vert="horz" lIns="152400" tIns="152400" rIns="152400" bIns="15240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0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C4200E6-1C16-4404-83F8-EF6DCDBBB2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5762" y="5891315"/>
            <a:ext cx="3074398" cy="80781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A9A873E-9927-496B-A60D-0D7706CD8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3969327"/>
            <a:ext cx="11125200" cy="1620981"/>
          </a:xfrm>
        </p:spPr>
        <p:txBody>
          <a:bodyPr>
            <a:normAutofit/>
          </a:bodyPr>
          <a:lstStyle>
            <a:lvl1pPr marL="0" indent="0" algn="l">
              <a:buNone/>
              <a:defRPr sz="3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Contact information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C250-C316-42F3-80D9-22493FC5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1" y="6156545"/>
            <a:ext cx="2285998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719CFD8D-4294-499E-818A-AD557040F3FB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0712-C9C0-4A20-9A25-43FC95F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A70265-5103-48D8-8097-3045DFAD5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7637" y="304800"/>
            <a:ext cx="1239563" cy="12395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273783D-9909-4274-ABFA-E574D02B1BEE}"/>
              </a:ext>
            </a:extLst>
          </p:cNvPr>
          <p:cNvSpPr txBox="1">
            <a:spLocks/>
          </p:cNvSpPr>
          <p:nvPr userDrawn="1"/>
        </p:nvSpPr>
        <p:spPr>
          <a:xfrm>
            <a:off x="762000" y="1181262"/>
            <a:ext cx="11129963" cy="2430617"/>
          </a:xfrm>
          <a:prstGeom prst="rect">
            <a:avLst/>
          </a:prstGeom>
        </p:spPr>
        <p:txBody>
          <a:bodyPr vert="horz" lIns="152400" tIns="152400" rIns="152400" bIns="15240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Thank you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0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4073-121E-4421-BD82-4A12F143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3BA97-DA9B-4182-BC9C-E815DF1C7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799" y="1825624"/>
            <a:ext cx="5715001" cy="4340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1469F-0306-46A5-B6F3-D59E9FFD9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15000" cy="43402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17F62-37DF-429B-AE46-9F4C2E6692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799" y="6165850"/>
            <a:ext cx="2743200" cy="365125"/>
          </a:xfr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AF3AA9BC-A49C-4D67-95E1-D024E3DE84CA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CBC4A-F1D7-4C1E-9E6D-8EF537FA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70791"/>
            <a:ext cx="4114800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F46BB-8C21-48D0-8E87-EE6EFD73E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/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471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A8A9-60D8-47E3-9098-2A64F835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96863"/>
            <a:ext cx="10107828" cy="13684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FAFC4-3CDE-4F38-A828-CA97CF424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690687"/>
            <a:ext cx="5692776" cy="8143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505D7-44D3-4AD3-9F33-BFC24D065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00" y="2505076"/>
            <a:ext cx="5692776" cy="36607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A7DB4F-A47D-4042-9DB6-443011144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5692776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C4325-D6B5-4C45-8F6A-9FFBE35F3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15000" cy="36607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95BF6-A1AD-41AA-9828-C879FF41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5D2BEFBC-ADBC-4103-95A0-200A345074D8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C7FC0-1686-4957-B49F-35A544F3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D4B37-23DA-416B-AB62-E687651C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/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6220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5E95-B565-47B2-B52C-20DF9C76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0B70E-C7C3-40D0-AC11-A81C3B6A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0F7B99D4-F4C6-41B2-937A-157F4137B9BB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C4CDC-C983-486B-A57E-26596347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CCAC9-DDEF-4391-8B54-6A69A89E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/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3303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3DDFB-A690-4D44-9056-C67C309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151200" rIns="151200"/>
          <a:lstStyle/>
          <a:p>
            <a:fld id="{E99E47EF-C005-4717-B653-24817D19F7FA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CE635-B779-4573-80A3-7AB6E1F4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CA460-FA36-4785-ABC2-C3A0506C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7C9D-7BD1-4F56-A474-DCEEE9B081CA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4305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CE14-4FA4-4026-93AD-9FF300DC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296863"/>
            <a:ext cx="10129065" cy="1331912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57388-906A-4F19-9B0B-5F279D25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240" y="1808163"/>
            <a:ext cx="7431722" cy="4068762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9E293-5065-49BF-9AB9-75A3BFC7E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0038" y="1808163"/>
            <a:ext cx="3932237" cy="40687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19E84-BB3A-4A03-B24E-A0D29A76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151200" rIns="151200"/>
          <a:lstStyle/>
          <a:p>
            <a:fld id="{08C97AA8-AA28-410D-A3CA-FECDA8726715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0DD9A-3AA9-4FBF-8019-6B381555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4169F-F9A5-4203-9AB1-4E66F2D8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7C9D-7BD1-4F56-A474-DCEEE9B081CA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9188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458F-3DE8-452D-85E2-D4B5B3546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0281920" cy="132397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49D39-7624-452E-A987-4579B56C3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04640" y="2743198"/>
            <a:ext cx="7782560" cy="342265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62CB4-06B5-4BD8-BD50-FB779677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00689-A294-4558-B542-FB0D7E01B742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9B85F-31A6-4835-8ACF-56FD7C15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E41CE-2CBE-44EF-A8C2-02BF3070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57C9D-7BD1-4F56-A474-DCEEE9B081CA}" type="slidenum">
              <a:rPr lang="en-AU" smtClean="0"/>
              <a:t>‹#›</a:t>
            </a:fld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B3B988-8BD7-4735-A941-6D9B4DF1D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4280" y="304800"/>
            <a:ext cx="1238400" cy="1225198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74FB687-E016-4BD6-B95E-445C424071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104639" y="1808163"/>
            <a:ext cx="7782561" cy="850624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0BE0E-100F-40A2-A599-C1701B09690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808163"/>
            <a:ext cx="3932237" cy="504983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Speaker Image</a:t>
            </a:r>
          </a:p>
        </p:txBody>
      </p:sp>
    </p:spTree>
    <p:extLst>
      <p:ext uri="{BB962C8B-B14F-4D97-AF65-F5344CB8AC3E}">
        <p14:creationId xmlns:p14="http://schemas.microsoft.com/office/powerpoint/2010/main" val="3163108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A8A9-60D8-47E3-9098-2A64F835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96863"/>
            <a:ext cx="10116066" cy="13684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95BF6-A1AD-41AA-9828-C879FF41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5D2BEFBC-ADBC-4103-95A0-200A345074D8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C7FC0-1686-4957-B49F-35A544F3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D4B37-23DA-416B-AB62-E687651C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/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ACDBF1-9D51-4114-BBC8-CAB7918B4B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4281" y="304800"/>
            <a:ext cx="1238400" cy="1225198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1D10708-98D8-43B4-96BF-5009DA8ED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799" y="3613192"/>
            <a:ext cx="3733801" cy="255604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1CC5447-E180-4840-BEEC-8EFECDBBA6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04797" y="2752408"/>
            <a:ext cx="3733801" cy="850624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28D352-B6A2-4342-A1C0-7CB24CEFC8D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04797" y="1675448"/>
            <a:ext cx="1066800" cy="1066800"/>
          </a:xfrm>
          <a:solidFill>
            <a:schemeClr val="bg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Speaker Image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1AB91DA-C455-4B38-9EBE-4A3B5C116943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229099" y="3609808"/>
            <a:ext cx="3733801" cy="255604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5162DDB-5D7A-4EAD-9BFE-140A53F18B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9099" y="2752408"/>
            <a:ext cx="3733801" cy="850624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66FF05D9-F6FE-4539-A991-9DA696352C91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234173" y="1675448"/>
            <a:ext cx="1066800" cy="1066800"/>
          </a:xfrm>
          <a:solidFill>
            <a:schemeClr val="bg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Speaker Image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67F63FE-61F0-4E63-9FEA-32DB4E88E097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153400" y="3613192"/>
            <a:ext cx="3733801" cy="255604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813F9E8-637B-4D65-A286-97ABEA6AE2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3398" y="2752408"/>
            <a:ext cx="3733801" cy="850624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B2B90C37-2732-4363-B6FD-01770BDB37CC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153398" y="1675448"/>
            <a:ext cx="1066800" cy="1066800"/>
          </a:xfrm>
          <a:solidFill>
            <a:schemeClr val="bg2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Speaker Image</a:t>
            </a:r>
          </a:p>
        </p:txBody>
      </p:sp>
    </p:spTree>
    <p:extLst>
      <p:ext uri="{BB962C8B-B14F-4D97-AF65-F5344CB8AC3E}">
        <p14:creationId xmlns:p14="http://schemas.microsoft.com/office/powerpoint/2010/main" val="1161209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E862-B60D-4DC3-8925-3DA7F858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A3C2F-4A05-4178-99AF-C407A1029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14AA8-8C05-44BA-90FA-A3DB61E0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E9D89D6D-80C8-465D-98D8-133A9E131798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D72C-E567-41E8-B503-C28100E5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E680F-FE1E-4B28-98C7-2662C1AC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/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64548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A7B0C-2553-4F8A-876B-7DC12A06D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12363"/>
            <a:ext cx="3162300" cy="50646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C69C2-1713-4919-AEFE-65D81932B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4799" y="304800"/>
            <a:ext cx="8267701" cy="58721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533F-B6D9-4D7C-9373-391A8C2B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>
              <a:defRPr lang="en-AU" smtClean="0"/>
            </a:lvl1pPr>
          </a:lstStyle>
          <a:p>
            <a:fld id="{C95A2CAA-9DC7-4358-BAB8-478FA38B839E}" type="datetime4">
              <a:rPr lang="en-AU" smtClean="0"/>
              <a:pPr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78541-8697-47E0-855B-D4D98164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3AFBA-9B89-4466-B4C4-5A546D90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 anchorCtr="0">
            <a:normAutofit/>
          </a:bodyPr>
          <a:lstStyle>
            <a:lvl1pPr algn="r">
              <a:defRPr lang="en-AU" smtClean="0"/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283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63F12-1BDB-44C8-9462-34E1E710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4800"/>
            <a:ext cx="10124304" cy="1325563"/>
          </a:xfrm>
          <a:prstGeom prst="rect">
            <a:avLst/>
          </a:prstGeom>
        </p:spPr>
        <p:txBody>
          <a:bodyPr vert="horz" lIns="152400" tIns="152400" rIns="152400" bIns="1524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11318-10F0-4DAB-84CB-C299FCEBD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08162"/>
            <a:ext cx="11582402" cy="4357687"/>
          </a:xfrm>
          <a:prstGeom prst="rect">
            <a:avLst/>
          </a:prstGeom>
        </p:spPr>
        <p:txBody>
          <a:bodyPr vert="horz" lIns="152400" tIns="152400" rIns="152400" bIns="15240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E383C-2BB6-486E-9DDD-1905ACD94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799" y="61880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C5D2AA0-A82C-4FAD-BB96-9D4617AD3337}" type="datetime4">
              <a:rPr lang="en-AU" smtClean="0"/>
              <a:t>8 November 2025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C0CB2-F37B-41C7-AB8A-F2DAEE5E4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880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8A2E-7A12-4977-8ED8-F11BC455F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188074"/>
            <a:ext cx="2743199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9D57C9D-7BD1-4F56-A474-DCEEE9B081CA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AC6D6B-6356-4E6B-8670-A067C89BE269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791297" y="304800"/>
            <a:ext cx="1095904" cy="59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0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0" r:id="rId3"/>
    <p:sldLayoutId id="2147483651" r:id="rId4"/>
    <p:sldLayoutId id="2147483676" r:id="rId5"/>
    <p:sldLayoutId id="2147483660" r:id="rId6"/>
    <p:sldLayoutId id="2147483665" r:id="rId7"/>
    <p:sldLayoutId id="2147483666" r:id="rId8"/>
    <p:sldLayoutId id="2147483661" r:id="rId9"/>
    <p:sldLayoutId id="2147483672" r:id="rId10"/>
    <p:sldLayoutId id="2147483673" r:id="rId11"/>
    <p:sldLayoutId id="2147483652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62" r:id="rId18"/>
    <p:sldLayoutId id="2147483658" r:id="rId19"/>
    <p:sldLayoutId id="2147483659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87" userDrawn="1">
          <p15:clr>
            <a:srgbClr val="F26B43"/>
          </p15:clr>
        </p15:guide>
        <p15:guide id="4" orient="horz" pos="1139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pos="189" userDrawn="1">
          <p15:clr>
            <a:srgbClr val="F26B43"/>
          </p15:clr>
        </p15:guide>
        <p15:guide id="7" pos="74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D6CD-C3C1-4274-A776-088956EFD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445249"/>
            <a:ext cx="11129963" cy="1185810"/>
          </a:xfrm>
        </p:spPr>
        <p:txBody>
          <a:bodyPr>
            <a:normAutofit/>
          </a:bodyPr>
          <a:lstStyle/>
          <a:p>
            <a:r>
              <a:rPr lang="en-US" dirty="0"/>
              <a:t>ICT305: </a:t>
            </a:r>
            <a:r>
              <a:rPr lang="en-US" dirty="0" err="1"/>
              <a:t>DataTales</a:t>
            </a:r>
            <a:r>
              <a:rPr lang="en-US" dirty="0"/>
              <a:t> Dashboard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63FE7-DF5A-4748-868A-949390F58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973484"/>
            <a:ext cx="9697092" cy="1620981"/>
          </a:xfrm>
        </p:spPr>
        <p:txBody>
          <a:bodyPr>
            <a:normAutofit/>
          </a:bodyPr>
          <a:lstStyle/>
          <a:p>
            <a:r>
              <a:rPr lang="en-US" dirty="0"/>
              <a:t>By: Wadiqa Baig, Areeba Shoaib, Lidya Tesfay Adal, Hiba Zubairi, Warda Baig</a:t>
            </a:r>
            <a:endParaRPr lang="en-AU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5D0075A-933D-819A-572D-C4BD693CEEA3}"/>
              </a:ext>
            </a:extLst>
          </p:cNvPr>
          <p:cNvSpPr/>
          <p:nvPr/>
        </p:nvSpPr>
        <p:spPr>
          <a:xfrm>
            <a:off x="292815" y="298102"/>
            <a:ext cx="1699829" cy="1676256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6" name="Content Placeholder 5" descr="A logo of a fairy sitting on a graph&#10;&#10;AI-generated content may be incorrect.">
            <a:extLst>
              <a:ext uri="{FF2B5EF4-FFF2-40B4-BE49-F238E27FC236}">
                <a16:creationId xmlns:a16="http://schemas.microsoft.com/office/drawing/2014/main" id="{77265E62-A21F-42C0-9E45-C19359546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53" y="339826"/>
            <a:ext cx="1634552" cy="1591785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671095-69F4-2321-81CB-9E3759007AF0}"/>
              </a:ext>
            </a:extLst>
          </p:cNvPr>
          <p:cNvSpPr txBox="1"/>
          <p:nvPr/>
        </p:nvSpPr>
        <p:spPr>
          <a:xfrm>
            <a:off x="200465" y="2030154"/>
            <a:ext cx="1884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solidFill>
                  <a:schemeClr val="bg1"/>
                </a:solidFill>
              </a:rPr>
              <a:t>Figure 1: </a:t>
            </a:r>
            <a:r>
              <a:rPr lang="en-US" sz="900" i="1" dirty="0" err="1">
                <a:solidFill>
                  <a:schemeClr val="bg1"/>
                </a:solidFill>
              </a:rPr>
              <a:t>DataTales</a:t>
            </a:r>
            <a:r>
              <a:rPr lang="en-US" sz="900" i="1" dirty="0">
                <a:solidFill>
                  <a:schemeClr val="bg1"/>
                </a:solidFill>
              </a:rPr>
              <a:t> logo</a:t>
            </a:r>
            <a:endParaRPr lang="en-AE" sz="9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70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F6FE-E819-A233-6E91-F3FB4C90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Introduction to the case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517B5E-D77A-7470-AA18-324983025713}"/>
              </a:ext>
            </a:extLst>
          </p:cNvPr>
          <p:cNvSpPr txBox="1">
            <a:spLocks/>
          </p:cNvSpPr>
          <p:nvPr/>
        </p:nvSpPr>
        <p:spPr>
          <a:xfrm>
            <a:off x="304799" y="4222043"/>
            <a:ext cx="2701493" cy="2179387"/>
          </a:xfrm>
          <a:prstGeom prst="rect">
            <a:avLst/>
          </a:pr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494959418">
                  <a:custGeom>
                    <a:avLst/>
                    <a:gdLst>
                      <a:gd name="connsiteX0" fmla="*/ 0 w 3155482"/>
                      <a:gd name="connsiteY0" fmla="*/ 0 h 3057170"/>
                      <a:gd name="connsiteX1" fmla="*/ 536432 w 3155482"/>
                      <a:gd name="connsiteY1" fmla="*/ 0 h 3057170"/>
                      <a:gd name="connsiteX2" fmla="*/ 1199083 w 3155482"/>
                      <a:gd name="connsiteY2" fmla="*/ 0 h 3057170"/>
                      <a:gd name="connsiteX3" fmla="*/ 1893289 w 3155482"/>
                      <a:gd name="connsiteY3" fmla="*/ 0 h 3057170"/>
                      <a:gd name="connsiteX4" fmla="*/ 2524386 w 3155482"/>
                      <a:gd name="connsiteY4" fmla="*/ 0 h 3057170"/>
                      <a:gd name="connsiteX5" fmla="*/ 3155482 w 3155482"/>
                      <a:gd name="connsiteY5" fmla="*/ 0 h 3057170"/>
                      <a:gd name="connsiteX6" fmla="*/ 3155482 w 3155482"/>
                      <a:gd name="connsiteY6" fmla="*/ 672577 h 3057170"/>
                      <a:gd name="connsiteX7" fmla="*/ 3155482 w 3155482"/>
                      <a:gd name="connsiteY7" fmla="*/ 1192296 h 3057170"/>
                      <a:gd name="connsiteX8" fmla="*/ 3155482 w 3155482"/>
                      <a:gd name="connsiteY8" fmla="*/ 1834302 h 3057170"/>
                      <a:gd name="connsiteX9" fmla="*/ 3155482 w 3155482"/>
                      <a:gd name="connsiteY9" fmla="*/ 2415164 h 3057170"/>
                      <a:gd name="connsiteX10" fmla="*/ 3155482 w 3155482"/>
                      <a:gd name="connsiteY10" fmla="*/ 3057170 h 3057170"/>
                      <a:gd name="connsiteX11" fmla="*/ 2587495 w 3155482"/>
                      <a:gd name="connsiteY11" fmla="*/ 3057170 h 3057170"/>
                      <a:gd name="connsiteX12" fmla="*/ 1956399 w 3155482"/>
                      <a:gd name="connsiteY12" fmla="*/ 3057170 h 3057170"/>
                      <a:gd name="connsiteX13" fmla="*/ 1419967 w 3155482"/>
                      <a:gd name="connsiteY13" fmla="*/ 3057170 h 3057170"/>
                      <a:gd name="connsiteX14" fmla="*/ 820425 w 3155482"/>
                      <a:gd name="connsiteY14" fmla="*/ 3057170 h 3057170"/>
                      <a:gd name="connsiteX15" fmla="*/ 0 w 3155482"/>
                      <a:gd name="connsiteY15" fmla="*/ 3057170 h 3057170"/>
                      <a:gd name="connsiteX16" fmla="*/ 0 w 3155482"/>
                      <a:gd name="connsiteY16" fmla="*/ 2506879 h 3057170"/>
                      <a:gd name="connsiteX17" fmla="*/ 0 w 3155482"/>
                      <a:gd name="connsiteY17" fmla="*/ 1895445 h 3057170"/>
                      <a:gd name="connsiteX18" fmla="*/ 0 w 3155482"/>
                      <a:gd name="connsiteY18" fmla="*/ 1375726 h 3057170"/>
                      <a:gd name="connsiteX19" fmla="*/ 0 w 3155482"/>
                      <a:gd name="connsiteY19" fmla="*/ 764293 h 3057170"/>
                      <a:gd name="connsiteX20" fmla="*/ 0 w 3155482"/>
                      <a:gd name="connsiteY20" fmla="*/ 0 h 305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55482" h="3057170" fill="none" extrusionOk="0">
                        <a:moveTo>
                          <a:pt x="0" y="0"/>
                        </a:moveTo>
                        <a:cubicBezTo>
                          <a:pt x="118787" y="-2650"/>
                          <a:pt x="403029" y="-9572"/>
                          <a:pt x="536432" y="0"/>
                        </a:cubicBezTo>
                        <a:cubicBezTo>
                          <a:pt x="669835" y="9572"/>
                          <a:pt x="1017628" y="30281"/>
                          <a:pt x="1199083" y="0"/>
                        </a:cubicBezTo>
                        <a:cubicBezTo>
                          <a:pt x="1380538" y="-30281"/>
                          <a:pt x="1668499" y="-10799"/>
                          <a:pt x="1893289" y="0"/>
                        </a:cubicBezTo>
                        <a:cubicBezTo>
                          <a:pt x="2118079" y="10799"/>
                          <a:pt x="2347988" y="23068"/>
                          <a:pt x="2524386" y="0"/>
                        </a:cubicBezTo>
                        <a:cubicBezTo>
                          <a:pt x="2700784" y="-23068"/>
                          <a:pt x="2926842" y="12850"/>
                          <a:pt x="3155482" y="0"/>
                        </a:cubicBezTo>
                        <a:cubicBezTo>
                          <a:pt x="3149304" y="307927"/>
                          <a:pt x="3144793" y="404614"/>
                          <a:pt x="3155482" y="672577"/>
                        </a:cubicBezTo>
                        <a:cubicBezTo>
                          <a:pt x="3166171" y="940540"/>
                          <a:pt x="3173808" y="1086603"/>
                          <a:pt x="3155482" y="1192296"/>
                        </a:cubicBezTo>
                        <a:cubicBezTo>
                          <a:pt x="3137156" y="1297989"/>
                          <a:pt x="3170031" y="1546127"/>
                          <a:pt x="3155482" y="1834302"/>
                        </a:cubicBezTo>
                        <a:cubicBezTo>
                          <a:pt x="3140933" y="2122477"/>
                          <a:pt x="3170622" y="2187319"/>
                          <a:pt x="3155482" y="2415164"/>
                        </a:cubicBezTo>
                        <a:cubicBezTo>
                          <a:pt x="3140342" y="2643009"/>
                          <a:pt x="3135275" y="2761656"/>
                          <a:pt x="3155482" y="3057170"/>
                        </a:cubicBezTo>
                        <a:cubicBezTo>
                          <a:pt x="2899483" y="3042894"/>
                          <a:pt x="2762016" y="3057082"/>
                          <a:pt x="2587495" y="3057170"/>
                        </a:cubicBezTo>
                        <a:cubicBezTo>
                          <a:pt x="2412974" y="3057258"/>
                          <a:pt x="2190982" y="3038037"/>
                          <a:pt x="1956399" y="3057170"/>
                        </a:cubicBezTo>
                        <a:cubicBezTo>
                          <a:pt x="1721816" y="3076303"/>
                          <a:pt x="1616805" y="3068177"/>
                          <a:pt x="1419967" y="3057170"/>
                        </a:cubicBezTo>
                        <a:cubicBezTo>
                          <a:pt x="1223129" y="3046163"/>
                          <a:pt x="947123" y="3040836"/>
                          <a:pt x="820425" y="3057170"/>
                        </a:cubicBezTo>
                        <a:cubicBezTo>
                          <a:pt x="693727" y="3073504"/>
                          <a:pt x="381693" y="3074115"/>
                          <a:pt x="0" y="3057170"/>
                        </a:cubicBezTo>
                        <a:cubicBezTo>
                          <a:pt x="5766" y="2843898"/>
                          <a:pt x="-8698" y="2769088"/>
                          <a:pt x="0" y="2506879"/>
                        </a:cubicBezTo>
                        <a:cubicBezTo>
                          <a:pt x="8698" y="2244670"/>
                          <a:pt x="1716" y="2143010"/>
                          <a:pt x="0" y="1895445"/>
                        </a:cubicBezTo>
                        <a:cubicBezTo>
                          <a:pt x="-1716" y="1647880"/>
                          <a:pt x="-21679" y="1489509"/>
                          <a:pt x="0" y="1375726"/>
                        </a:cubicBezTo>
                        <a:cubicBezTo>
                          <a:pt x="21679" y="1261943"/>
                          <a:pt x="-24027" y="921205"/>
                          <a:pt x="0" y="764293"/>
                        </a:cubicBezTo>
                        <a:cubicBezTo>
                          <a:pt x="24027" y="607381"/>
                          <a:pt x="-35785" y="251960"/>
                          <a:pt x="0" y="0"/>
                        </a:cubicBezTo>
                        <a:close/>
                      </a:path>
                      <a:path w="3155482" h="3057170" stroke="0" extrusionOk="0">
                        <a:moveTo>
                          <a:pt x="0" y="0"/>
                        </a:moveTo>
                        <a:cubicBezTo>
                          <a:pt x="241477" y="34682"/>
                          <a:pt x="368371" y="-26209"/>
                          <a:pt x="694206" y="0"/>
                        </a:cubicBezTo>
                        <a:cubicBezTo>
                          <a:pt x="1020041" y="26209"/>
                          <a:pt x="1148443" y="-29364"/>
                          <a:pt x="1356857" y="0"/>
                        </a:cubicBezTo>
                        <a:cubicBezTo>
                          <a:pt x="1565271" y="29364"/>
                          <a:pt x="1642976" y="-181"/>
                          <a:pt x="1924844" y="0"/>
                        </a:cubicBezTo>
                        <a:cubicBezTo>
                          <a:pt x="2206712" y="181"/>
                          <a:pt x="2319225" y="27605"/>
                          <a:pt x="2555940" y="0"/>
                        </a:cubicBezTo>
                        <a:cubicBezTo>
                          <a:pt x="2792655" y="-27605"/>
                          <a:pt x="2908189" y="5168"/>
                          <a:pt x="3155482" y="0"/>
                        </a:cubicBezTo>
                        <a:cubicBezTo>
                          <a:pt x="3159640" y="277016"/>
                          <a:pt x="3163524" y="372468"/>
                          <a:pt x="3155482" y="672577"/>
                        </a:cubicBezTo>
                        <a:cubicBezTo>
                          <a:pt x="3147440" y="972686"/>
                          <a:pt x="3148074" y="1035518"/>
                          <a:pt x="3155482" y="1192296"/>
                        </a:cubicBezTo>
                        <a:cubicBezTo>
                          <a:pt x="3162890" y="1349074"/>
                          <a:pt x="3179240" y="1512571"/>
                          <a:pt x="3155482" y="1712015"/>
                        </a:cubicBezTo>
                        <a:cubicBezTo>
                          <a:pt x="3131724" y="1911459"/>
                          <a:pt x="3125497" y="2058303"/>
                          <a:pt x="3155482" y="2384593"/>
                        </a:cubicBezTo>
                        <a:cubicBezTo>
                          <a:pt x="3185467" y="2710883"/>
                          <a:pt x="3150365" y="2776208"/>
                          <a:pt x="3155482" y="3057170"/>
                        </a:cubicBezTo>
                        <a:cubicBezTo>
                          <a:pt x="2865830" y="3063910"/>
                          <a:pt x="2685309" y="3027925"/>
                          <a:pt x="2461276" y="3057170"/>
                        </a:cubicBezTo>
                        <a:cubicBezTo>
                          <a:pt x="2237243" y="3086415"/>
                          <a:pt x="2091124" y="3071126"/>
                          <a:pt x="1798625" y="3057170"/>
                        </a:cubicBezTo>
                        <a:cubicBezTo>
                          <a:pt x="1506126" y="3043214"/>
                          <a:pt x="1398336" y="3059557"/>
                          <a:pt x="1262193" y="3057170"/>
                        </a:cubicBezTo>
                        <a:cubicBezTo>
                          <a:pt x="1126050" y="3054783"/>
                          <a:pt x="848521" y="3040544"/>
                          <a:pt x="567987" y="3057170"/>
                        </a:cubicBezTo>
                        <a:cubicBezTo>
                          <a:pt x="287453" y="3073796"/>
                          <a:pt x="257775" y="3058180"/>
                          <a:pt x="0" y="3057170"/>
                        </a:cubicBezTo>
                        <a:cubicBezTo>
                          <a:pt x="-3894" y="2760914"/>
                          <a:pt x="17052" y="2551985"/>
                          <a:pt x="0" y="2384593"/>
                        </a:cubicBezTo>
                        <a:cubicBezTo>
                          <a:pt x="-17052" y="2217201"/>
                          <a:pt x="-21173" y="1867523"/>
                          <a:pt x="0" y="1712015"/>
                        </a:cubicBezTo>
                        <a:cubicBezTo>
                          <a:pt x="21173" y="1556507"/>
                          <a:pt x="714" y="1352644"/>
                          <a:pt x="0" y="1131153"/>
                        </a:cubicBezTo>
                        <a:cubicBezTo>
                          <a:pt x="-714" y="909662"/>
                          <a:pt x="8147" y="30194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152400" tIns="152400" rIns="152400" bIns="1524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/>
              <a:t>Identifying the specific factors that influence student academic success, as they span academics, lifestyle, and socioeconomic factors.</a:t>
            </a:r>
            <a:endParaRPr lang="en-US" sz="1600"/>
          </a:p>
        </p:txBody>
      </p:sp>
      <p:pic>
        <p:nvPicPr>
          <p:cNvPr id="5" name="Picture 4" descr="A group of people in different colors&#10;&#10;AI-generated content may be incorrect.">
            <a:extLst>
              <a:ext uri="{FF2B5EF4-FFF2-40B4-BE49-F238E27FC236}">
                <a16:creationId xmlns:a16="http://schemas.microsoft.com/office/drawing/2014/main" id="{8D480A78-C96A-C993-1B83-63DAF5CAA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813" y="2447033"/>
            <a:ext cx="1324800" cy="1324800"/>
          </a:xfrm>
          <a:prstGeom prst="rect">
            <a:avLst/>
          </a:prstGeom>
        </p:spPr>
      </p:pic>
      <p:pic>
        <p:nvPicPr>
          <p:cNvPr id="6" name="Picture 5" descr="A book with a star on top&#10;&#10;AI-generated content may be incorrect.">
            <a:extLst>
              <a:ext uri="{FF2B5EF4-FFF2-40B4-BE49-F238E27FC236}">
                <a16:creationId xmlns:a16="http://schemas.microsoft.com/office/drawing/2014/main" id="{1419E443-E3AF-DE9C-94D7-675F2E312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938" y="2386837"/>
            <a:ext cx="1324800" cy="1324800"/>
          </a:xfrm>
          <a:prstGeom prst="rect">
            <a:avLst/>
          </a:prstGeom>
        </p:spPr>
      </p:pic>
      <p:pic>
        <p:nvPicPr>
          <p:cNvPr id="7" name="Picture 6" descr="A person climbing up a graph&#10;&#10;AI-generated content may be incorrect.">
            <a:extLst>
              <a:ext uri="{FF2B5EF4-FFF2-40B4-BE49-F238E27FC236}">
                <a16:creationId xmlns:a16="http://schemas.microsoft.com/office/drawing/2014/main" id="{08FDC5FF-7F8F-AF25-3C11-A2CBB3B54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978" y="2258777"/>
            <a:ext cx="1324800" cy="1324800"/>
          </a:xfrm>
          <a:prstGeom prst="rect">
            <a:avLst/>
          </a:prstGeom>
        </p:spPr>
      </p:pic>
      <p:pic>
        <p:nvPicPr>
          <p:cNvPr id="8" name="Picture 7" descr="A yellow and blue magnifying glass with a exclamation mark&#10;&#10;AI-generated content may be incorrect.">
            <a:extLst>
              <a:ext uri="{FF2B5EF4-FFF2-40B4-BE49-F238E27FC236}">
                <a16:creationId xmlns:a16="http://schemas.microsoft.com/office/drawing/2014/main" id="{FBD51771-A6BC-5E2D-2D4C-6211A1586E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96" y="2346675"/>
            <a:ext cx="1325563" cy="1325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08B012-9052-C828-2E92-DE7ED5E5606C}"/>
              </a:ext>
            </a:extLst>
          </p:cNvPr>
          <p:cNvSpPr txBox="1"/>
          <p:nvPr/>
        </p:nvSpPr>
        <p:spPr>
          <a:xfrm>
            <a:off x="9004611" y="4319028"/>
            <a:ext cx="2758902" cy="1985415"/>
          </a:xfrm>
          <a:prstGeom prst="rect">
            <a:avLst/>
          </a:pr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178850709">
                  <a:custGeom>
                    <a:avLst/>
                    <a:gdLst>
                      <a:gd name="connsiteX0" fmla="*/ 0 w 2758902"/>
                      <a:gd name="connsiteY0" fmla="*/ 0 h 2626616"/>
                      <a:gd name="connsiteX1" fmla="*/ 689726 w 2758902"/>
                      <a:gd name="connsiteY1" fmla="*/ 0 h 2626616"/>
                      <a:gd name="connsiteX2" fmla="*/ 1351862 w 2758902"/>
                      <a:gd name="connsiteY2" fmla="*/ 0 h 2626616"/>
                      <a:gd name="connsiteX3" fmla="*/ 2069177 w 2758902"/>
                      <a:gd name="connsiteY3" fmla="*/ 0 h 2626616"/>
                      <a:gd name="connsiteX4" fmla="*/ 2758902 w 2758902"/>
                      <a:gd name="connsiteY4" fmla="*/ 0 h 2626616"/>
                      <a:gd name="connsiteX5" fmla="*/ 2758902 w 2758902"/>
                      <a:gd name="connsiteY5" fmla="*/ 577856 h 2626616"/>
                      <a:gd name="connsiteX6" fmla="*/ 2758902 w 2758902"/>
                      <a:gd name="connsiteY6" fmla="*/ 1155711 h 2626616"/>
                      <a:gd name="connsiteX7" fmla="*/ 2758902 w 2758902"/>
                      <a:gd name="connsiteY7" fmla="*/ 1733567 h 2626616"/>
                      <a:gd name="connsiteX8" fmla="*/ 2758902 w 2758902"/>
                      <a:gd name="connsiteY8" fmla="*/ 2626616 h 2626616"/>
                      <a:gd name="connsiteX9" fmla="*/ 2069177 w 2758902"/>
                      <a:gd name="connsiteY9" fmla="*/ 2626616 h 2626616"/>
                      <a:gd name="connsiteX10" fmla="*/ 1462218 w 2758902"/>
                      <a:gd name="connsiteY10" fmla="*/ 2626616 h 2626616"/>
                      <a:gd name="connsiteX11" fmla="*/ 827671 w 2758902"/>
                      <a:gd name="connsiteY11" fmla="*/ 2626616 h 2626616"/>
                      <a:gd name="connsiteX12" fmla="*/ 0 w 2758902"/>
                      <a:gd name="connsiteY12" fmla="*/ 2626616 h 2626616"/>
                      <a:gd name="connsiteX13" fmla="*/ 0 w 2758902"/>
                      <a:gd name="connsiteY13" fmla="*/ 1996228 h 2626616"/>
                      <a:gd name="connsiteX14" fmla="*/ 0 w 2758902"/>
                      <a:gd name="connsiteY14" fmla="*/ 1418373 h 2626616"/>
                      <a:gd name="connsiteX15" fmla="*/ 0 w 2758902"/>
                      <a:gd name="connsiteY15" fmla="*/ 840517 h 2626616"/>
                      <a:gd name="connsiteX16" fmla="*/ 0 w 2758902"/>
                      <a:gd name="connsiteY16" fmla="*/ 0 h 2626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758902" h="2626616" fill="none" extrusionOk="0">
                        <a:moveTo>
                          <a:pt x="0" y="0"/>
                        </a:moveTo>
                        <a:cubicBezTo>
                          <a:pt x="284869" y="22975"/>
                          <a:pt x="421055" y="31897"/>
                          <a:pt x="689726" y="0"/>
                        </a:cubicBezTo>
                        <a:cubicBezTo>
                          <a:pt x="958397" y="-31897"/>
                          <a:pt x="1060444" y="-20483"/>
                          <a:pt x="1351862" y="0"/>
                        </a:cubicBezTo>
                        <a:cubicBezTo>
                          <a:pt x="1643280" y="20483"/>
                          <a:pt x="1795416" y="26140"/>
                          <a:pt x="2069177" y="0"/>
                        </a:cubicBezTo>
                        <a:cubicBezTo>
                          <a:pt x="2342938" y="-26140"/>
                          <a:pt x="2511168" y="-22583"/>
                          <a:pt x="2758902" y="0"/>
                        </a:cubicBezTo>
                        <a:cubicBezTo>
                          <a:pt x="2783206" y="201820"/>
                          <a:pt x="2786993" y="306786"/>
                          <a:pt x="2758902" y="577856"/>
                        </a:cubicBezTo>
                        <a:cubicBezTo>
                          <a:pt x="2730811" y="848926"/>
                          <a:pt x="2767243" y="1031880"/>
                          <a:pt x="2758902" y="1155711"/>
                        </a:cubicBezTo>
                        <a:cubicBezTo>
                          <a:pt x="2750561" y="1279543"/>
                          <a:pt x="2776713" y="1486702"/>
                          <a:pt x="2758902" y="1733567"/>
                        </a:cubicBezTo>
                        <a:cubicBezTo>
                          <a:pt x="2741091" y="1980432"/>
                          <a:pt x="2787116" y="2196045"/>
                          <a:pt x="2758902" y="2626616"/>
                        </a:cubicBezTo>
                        <a:cubicBezTo>
                          <a:pt x="2615196" y="2625066"/>
                          <a:pt x="2233833" y="2642948"/>
                          <a:pt x="2069177" y="2626616"/>
                        </a:cubicBezTo>
                        <a:cubicBezTo>
                          <a:pt x="1904522" y="2610284"/>
                          <a:pt x="1696365" y="2638470"/>
                          <a:pt x="1462218" y="2626616"/>
                        </a:cubicBezTo>
                        <a:cubicBezTo>
                          <a:pt x="1228071" y="2614762"/>
                          <a:pt x="959484" y="2642092"/>
                          <a:pt x="827671" y="2626616"/>
                        </a:cubicBezTo>
                        <a:cubicBezTo>
                          <a:pt x="695858" y="2611140"/>
                          <a:pt x="375519" y="2605665"/>
                          <a:pt x="0" y="2626616"/>
                        </a:cubicBezTo>
                        <a:cubicBezTo>
                          <a:pt x="-28696" y="2389163"/>
                          <a:pt x="27846" y="2190605"/>
                          <a:pt x="0" y="1996228"/>
                        </a:cubicBezTo>
                        <a:cubicBezTo>
                          <a:pt x="-27846" y="1801851"/>
                          <a:pt x="21338" y="1668123"/>
                          <a:pt x="0" y="1418373"/>
                        </a:cubicBezTo>
                        <a:cubicBezTo>
                          <a:pt x="-21338" y="1168623"/>
                          <a:pt x="-6945" y="1101046"/>
                          <a:pt x="0" y="840517"/>
                        </a:cubicBezTo>
                        <a:cubicBezTo>
                          <a:pt x="6945" y="579988"/>
                          <a:pt x="37183" y="292521"/>
                          <a:pt x="0" y="0"/>
                        </a:cubicBezTo>
                        <a:close/>
                      </a:path>
                      <a:path w="2758902" h="2626616" stroke="0" extrusionOk="0">
                        <a:moveTo>
                          <a:pt x="0" y="0"/>
                        </a:moveTo>
                        <a:cubicBezTo>
                          <a:pt x="328325" y="-8534"/>
                          <a:pt x="527366" y="-29683"/>
                          <a:pt x="689726" y="0"/>
                        </a:cubicBezTo>
                        <a:cubicBezTo>
                          <a:pt x="852086" y="29683"/>
                          <a:pt x="1069460" y="17109"/>
                          <a:pt x="1407040" y="0"/>
                        </a:cubicBezTo>
                        <a:cubicBezTo>
                          <a:pt x="1744620" y="-17109"/>
                          <a:pt x="1734595" y="-3299"/>
                          <a:pt x="2041587" y="0"/>
                        </a:cubicBezTo>
                        <a:cubicBezTo>
                          <a:pt x="2348579" y="3299"/>
                          <a:pt x="2434214" y="-21691"/>
                          <a:pt x="2758902" y="0"/>
                        </a:cubicBezTo>
                        <a:cubicBezTo>
                          <a:pt x="2734507" y="228737"/>
                          <a:pt x="2766765" y="412051"/>
                          <a:pt x="2758902" y="630388"/>
                        </a:cubicBezTo>
                        <a:cubicBezTo>
                          <a:pt x="2751039" y="848725"/>
                          <a:pt x="2760196" y="1038168"/>
                          <a:pt x="2758902" y="1208243"/>
                        </a:cubicBezTo>
                        <a:cubicBezTo>
                          <a:pt x="2757608" y="1378319"/>
                          <a:pt x="2758107" y="1603267"/>
                          <a:pt x="2758902" y="1786099"/>
                        </a:cubicBezTo>
                        <a:cubicBezTo>
                          <a:pt x="2759697" y="1968931"/>
                          <a:pt x="2731077" y="2301135"/>
                          <a:pt x="2758902" y="2626616"/>
                        </a:cubicBezTo>
                        <a:cubicBezTo>
                          <a:pt x="2475986" y="2651863"/>
                          <a:pt x="2337313" y="2649691"/>
                          <a:pt x="2041587" y="2626616"/>
                        </a:cubicBezTo>
                        <a:cubicBezTo>
                          <a:pt x="1745861" y="2603541"/>
                          <a:pt x="1569551" y="2626769"/>
                          <a:pt x="1379451" y="2626616"/>
                        </a:cubicBezTo>
                        <a:cubicBezTo>
                          <a:pt x="1189351" y="2626463"/>
                          <a:pt x="899768" y="2647243"/>
                          <a:pt x="717315" y="2626616"/>
                        </a:cubicBezTo>
                        <a:cubicBezTo>
                          <a:pt x="534862" y="2605989"/>
                          <a:pt x="216695" y="2639039"/>
                          <a:pt x="0" y="2626616"/>
                        </a:cubicBezTo>
                        <a:cubicBezTo>
                          <a:pt x="28862" y="2461630"/>
                          <a:pt x="-27617" y="2172072"/>
                          <a:pt x="0" y="2048760"/>
                        </a:cubicBezTo>
                        <a:cubicBezTo>
                          <a:pt x="27617" y="1925448"/>
                          <a:pt x="10367" y="1621495"/>
                          <a:pt x="0" y="1365840"/>
                        </a:cubicBezTo>
                        <a:cubicBezTo>
                          <a:pt x="-10367" y="1110185"/>
                          <a:pt x="20917" y="995883"/>
                          <a:pt x="0" y="787985"/>
                        </a:cubicBezTo>
                        <a:cubicBezTo>
                          <a:pt x="-20917" y="580087"/>
                          <a:pt x="-39002" y="3931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 fontAlgn="base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Primary:</a:t>
            </a:r>
            <a:r>
              <a:rPr lang="en-US" sz="1700" dirty="0"/>
              <a:t> Educational administrators &amp; advisors</a:t>
            </a:r>
          </a:p>
          <a:p>
            <a:pPr marL="285750" indent="-285750" fontAlgn="base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Secondary:</a:t>
            </a:r>
            <a:r>
              <a:rPr lang="en-US" sz="1700" dirty="0"/>
              <a:t> Parents</a:t>
            </a:r>
          </a:p>
          <a:p>
            <a:pPr marL="285750" indent="-285750" fontAlgn="base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Tertiary:</a:t>
            </a:r>
            <a:r>
              <a:rPr lang="en-US" sz="1700" dirty="0"/>
              <a:t> Researchers and policy makers.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33DA2-459C-86EF-D438-B88FAF2134B8}"/>
              </a:ext>
            </a:extLst>
          </p:cNvPr>
          <p:cNvSpPr txBox="1"/>
          <p:nvPr/>
        </p:nvSpPr>
        <p:spPr>
          <a:xfrm>
            <a:off x="638708" y="1668502"/>
            <a:ext cx="1517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Problem</a:t>
            </a:r>
            <a:endParaRPr lang="en-AE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484F6D-0E9D-A0D4-C9A5-6FAF66792BE8}"/>
              </a:ext>
            </a:extLst>
          </p:cNvPr>
          <p:cNvSpPr txBox="1"/>
          <p:nvPr/>
        </p:nvSpPr>
        <p:spPr>
          <a:xfrm>
            <a:off x="3601215" y="1651114"/>
            <a:ext cx="13255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C1608-5E98-90BA-2EDE-721A766E88CE}"/>
              </a:ext>
            </a:extLst>
          </p:cNvPr>
          <p:cNvSpPr txBox="1"/>
          <p:nvPr/>
        </p:nvSpPr>
        <p:spPr>
          <a:xfrm>
            <a:off x="5978591" y="1651114"/>
            <a:ext cx="26753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accent5">
                    <a:lumMod val="75000"/>
                  </a:schemeClr>
                </a:solidFill>
              </a:rPr>
              <a:t>Central Message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E53837-EFAC-1228-348B-48F9CF9BBA5B}"/>
              </a:ext>
            </a:extLst>
          </p:cNvPr>
          <p:cNvSpPr txBox="1"/>
          <p:nvPr/>
        </p:nvSpPr>
        <p:spPr>
          <a:xfrm>
            <a:off x="9004611" y="1677093"/>
            <a:ext cx="2665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Target Audience</a:t>
            </a:r>
            <a:endParaRPr lang="en-AE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473645-46CB-53C4-F304-67B2A461F960}"/>
              </a:ext>
            </a:extLst>
          </p:cNvPr>
          <p:cNvSpPr txBox="1">
            <a:spLocks/>
          </p:cNvSpPr>
          <p:nvPr/>
        </p:nvSpPr>
        <p:spPr>
          <a:xfrm>
            <a:off x="6031562" y="4228570"/>
            <a:ext cx="2546141" cy="1767793"/>
          </a:xfrm>
          <a:prstGeom prst="rect">
            <a:avLst/>
          </a:pr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494959418">
                  <a:custGeom>
                    <a:avLst/>
                    <a:gdLst>
                      <a:gd name="connsiteX0" fmla="*/ 0 w 2546141"/>
                      <a:gd name="connsiteY0" fmla="*/ 0 h 2841893"/>
                      <a:gd name="connsiteX1" fmla="*/ 611074 w 2546141"/>
                      <a:gd name="connsiteY1" fmla="*/ 0 h 2841893"/>
                      <a:gd name="connsiteX2" fmla="*/ 1247609 w 2546141"/>
                      <a:gd name="connsiteY2" fmla="*/ 0 h 2841893"/>
                      <a:gd name="connsiteX3" fmla="*/ 1858683 w 2546141"/>
                      <a:gd name="connsiteY3" fmla="*/ 0 h 2841893"/>
                      <a:gd name="connsiteX4" fmla="*/ 2546141 w 2546141"/>
                      <a:gd name="connsiteY4" fmla="*/ 0 h 2841893"/>
                      <a:gd name="connsiteX5" fmla="*/ 2546141 w 2546141"/>
                      <a:gd name="connsiteY5" fmla="*/ 625216 h 2841893"/>
                      <a:gd name="connsiteX6" fmla="*/ 2546141 w 2546141"/>
                      <a:gd name="connsiteY6" fmla="*/ 1136757 h 2841893"/>
                      <a:gd name="connsiteX7" fmla="*/ 2546141 w 2546141"/>
                      <a:gd name="connsiteY7" fmla="*/ 1733555 h 2841893"/>
                      <a:gd name="connsiteX8" fmla="*/ 2546141 w 2546141"/>
                      <a:gd name="connsiteY8" fmla="*/ 2330352 h 2841893"/>
                      <a:gd name="connsiteX9" fmla="*/ 2546141 w 2546141"/>
                      <a:gd name="connsiteY9" fmla="*/ 2841893 h 2841893"/>
                      <a:gd name="connsiteX10" fmla="*/ 1884144 w 2546141"/>
                      <a:gd name="connsiteY10" fmla="*/ 2841893 h 2841893"/>
                      <a:gd name="connsiteX11" fmla="*/ 1222148 w 2546141"/>
                      <a:gd name="connsiteY11" fmla="*/ 2841893 h 2841893"/>
                      <a:gd name="connsiteX12" fmla="*/ 585612 w 2546141"/>
                      <a:gd name="connsiteY12" fmla="*/ 2841893 h 2841893"/>
                      <a:gd name="connsiteX13" fmla="*/ 0 w 2546141"/>
                      <a:gd name="connsiteY13" fmla="*/ 2841893 h 2841893"/>
                      <a:gd name="connsiteX14" fmla="*/ 0 w 2546141"/>
                      <a:gd name="connsiteY14" fmla="*/ 2273514 h 2841893"/>
                      <a:gd name="connsiteX15" fmla="*/ 0 w 2546141"/>
                      <a:gd name="connsiteY15" fmla="*/ 1761974 h 2841893"/>
                      <a:gd name="connsiteX16" fmla="*/ 0 w 2546141"/>
                      <a:gd name="connsiteY16" fmla="*/ 1222014 h 2841893"/>
                      <a:gd name="connsiteX17" fmla="*/ 0 w 2546141"/>
                      <a:gd name="connsiteY17" fmla="*/ 710473 h 2841893"/>
                      <a:gd name="connsiteX18" fmla="*/ 0 w 2546141"/>
                      <a:gd name="connsiteY18" fmla="*/ 0 h 28418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2546141" h="2841893" fill="none" extrusionOk="0">
                        <a:moveTo>
                          <a:pt x="0" y="0"/>
                        </a:moveTo>
                        <a:cubicBezTo>
                          <a:pt x="193116" y="-14047"/>
                          <a:pt x="471339" y="-17606"/>
                          <a:pt x="611074" y="0"/>
                        </a:cubicBezTo>
                        <a:cubicBezTo>
                          <a:pt x="750809" y="17606"/>
                          <a:pt x="932810" y="-10943"/>
                          <a:pt x="1247609" y="0"/>
                        </a:cubicBezTo>
                        <a:cubicBezTo>
                          <a:pt x="1562409" y="10943"/>
                          <a:pt x="1704705" y="-9865"/>
                          <a:pt x="1858683" y="0"/>
                        </a:cubicBezTo>
                        <a:cubicBezTo>
                          <a:pt x="2012661" y="9865"/>
                          <a:pt x="2396047" y="-31240"/>
                          <a:pt x="2546141" y="0"/>
                        </a:cubicBezTo>
                        <a:cubicBezTo>
                          <a:pt x="2528234" y="299020"/>
                          <a:pt x="2530901" y="329992"/>
                          <a:pt x="2546141" y="625216"/>
                        </a:cubicBezTo>
                        <a:cubicBezTo>
                          <a:pt x="2561381" y="920440"/>
                          <a:pt x="2539469" y="907543"/>
                          <a:pt x="2546141" y="1136757"/>
                        </a:cubicBezTo>
                        <a:cubicBezTo>
                          <a:pt x="2552813" y="1365971"/>
                          <a:pt x="2566995" y="1446213"/>
                          <a:pt x="2546141" y="1733555"/>
                        </a:cubicBezTo>
                        <a:cubicBezTo>
                          <a:pt x="2525287" y="2020897"/>
                          <a:pt x="2566927" y="2052886"/>
                          <a:pt x="2546141" y="2330352"/>
                        </a:cubicBezTo>
                        <a:cubicBezTo>
                          <a:pt x="2525355" y="2607818"/>
                          <a:pt x="2527046" y="2586481"/>
                          <a:pt x="2546141" y="2841893"/>
                        </a:cubicBezTo>
                        <a:cubicBezTo>
                          <a:pt x="2324472" y="2813201"/>
                          <a:pt x="2096616" y="2816758"/>
                          <a:pt x="1884144" y="2841893"/>
                        </a:cubicBezTo>
                        <a:cubicBezTo>
                          <a:pt x="1671672" y="2867028"/>
                          <a:pt x="1397359" y="2854313"/>
                          <a:pt x="1222148" y="2841893"/>
                        </a:cubicBezTo>
                        <a:cubicBezTo>
                          <a:pt x="1046937" y="2829473"/>
                          <a:pt x="765706" y="2869165"/>
                          <a:pt x="585612" y="2841893"/>
                        </a:cubicBezTo>
                        <a:cubicBezTo>
                          <a:pt x="405518" y="2814621"/>
                          <a:pt x="152412" y="2825639"/>
                          <a:pt x="0" y="2841893"/>
                        </a:cubicBezTo>
                        <a:cubicBezTo>
                          <a:pt x="7564" y="2619528"/>
                          <a:pt x="-26488" y="2506920"/>
                          <a:pt x="0" y="2273514"/>
                        </a:cubicBezTo>
                        <a:cubicBezTo>
                          <a:pt x="26488" y="2040108"/>
                          <a:pt x="-4682" y="2011227"/>
                          <a:pt x="0" y="1761974"/>
                        </a:cubicBezTo>
                        <a:cubicBezTo>
                          <a:pt x="4682" y="1512721"/>
                          <a:pt x="-10175" y="1332454"/>
                          <a:pt x="0" y="1222014"/>
                        </a:cubicBezTo>
                        <a:cubicBezTo>
                          <a:pt x="10175" y="1111574"/>
                          <a:pt x="-4851" y="953575"/>
                          <a:pt x="0" y="710473"/>
                        </a:cubicBezTo>
                        <a:cubicBezTo>
                          <a:pt x="4851" y="467371"/>
                          <a:pt x="-11303" y="159470"/>
                          <a:pt x="0" y="0"/>
                        </a:cubicBezTo>
                        <a:close/>
                      </a:path>
                      <a:path w="2546141" h="2841893" stroke="0" extrusionOk="0">
                        <a:moveTo>
                          <a:pt x="0" y="0"/>
                        </a:moveTo>
                        <a:cubicBezTo>
                          <a:pt x="260703" y="-12159"/>
                          <a:pt x="544834" y="-5058"/>
                          <a:pt x="687458" y="0"/>
                        </a:cubicBezTo>
                        <a:cubicBezTo>
                          <a:pt x="830082" y="5058"/>
                          <a:pt x="1174926" y="-28973"/>
                          <a:pt x="1349455" y="0"/>
                        </a:cubicBezTo>
                        <a:cubicBezTo>
                          <a:pt x="1523984" y="28973"/>
                          <a:pt x="1719069" y="18092"/>
                          <a:pt x="1935067" y="0"/>
                        </a:cubicBezTo>
                        <a:cubicBezTo>
                          <a:pt x="2151065" y="-18092"/>
                          <a:pt x="2404663" y="22006"/>
                          <a:pt x="2546141" y="0"/>
                        </a:cubicBezTo>
                        <a:cubicBezTo>
                          <a:pt x="2559724" y="267192"/>
                          <a:pt x="2542197" y="313143"/>
                          <a:pt x="2546141" y="568379"/>
                        </a:cubicBezTo>
                        <a:cubicBezTo>
                          <a:pt x="2550085" y="823615"/>
                          <a:pt x="2535862" y="921313"/>
                          <a:pt x="2546141" y="1136757"/>
                        </a:cubicBezTo>
                        <a:cubicBezTo>
                          <a:pt x="2556420" y="1352201"/>
                          <a:pt x="2539304" y="1521916"/>
                          <a:pt x="2546141" y="1619879"/>
                        </a:cubicBezTo>
                        <a:cubicBezTo>
                          <a:pt x="2552978" y="1717842"/>
                          <a:pt x="2563922" y="1999975"/>
                          <a:pt x="2546141" y="2103001"/>
                        </a:cubicBezTo>
                        <a:cubicBezTo>
                          <a:pt x="2528360" y="2206027"/>
                          <a:pt x="2520976" y="2553458"/>
                          <a:pt x="2546141" y="2841893"/>
                        </a:cubicBezTo>
                        <a:cubicBezTo>
                          <a:pt x="2341330" y="2817684"/>
                          <a:pt x="2037328" y="2841728"/>
                          <a:pt x="1909606" y="2841893"/>
                        </a:cubicBezTo>
                        <a:cubicBezTo>
                          <a:pt x="1781885" y="2842058"/>
                          <a:pt x="1507673" y="2850263"/>
                          <a:pt x="1273071" y="2841893"/>
                        </a:cubicBezTo>
                        <a:cubicBezTo>
                          <a:pt x="1038470" y="2833523"/>
                          <a:pt x="909511" y="2825589"/>
                          <a:pt x="611074" y="2841893"/>
                        </a:cubicBezTo>
                        <a:cubicBezTo>
                          <a:pt x="312637" y="2858197"/>
                          <a:pt x="242114" y="2834752"/>
                          <a:pt x="0" y="2841893"/>
                        </a:cubicBezTo>
                        <a:cubicBezTo>
                          <a:pt x="-12324" y="2579750"/>
                          <a:pt x="-13730" y="2491302"/>
                          <a:pt x="0" y="2216677"/>
                        </a:cubicBezTo>
                        <a:cubicBezTo>
                          <a:pt x="13730" y="1942052"/>
                          <a:pt x="-10446" y="1797417"/>
                          <a:pt x="0" y="1648298"/>
                        </a:cubicBezTo>
                        <a:cubicBezTo>
                          <a:pt x="10446" y="1499179"/>
                          <a:pt x="-13261" y="1291310"/>
                          <a:pt x="0" y="1108338"/>
                        </a:cubicBezTo>
                        <a:cubicBezTo>
                          <a:pt x="13261" y="925366"/>
                          <a:pt x="-7589" y="40064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152400" tIns="152400" rIns="152400" bIns="1524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00"/>
              </a:lnSpc>
              <a:spcBef>
                <a:spcPts val="0"/>
              </a:spcBef>
              <a:buNone/>
            </a:pPr>
            <a:r>
              <a:rPr lang="en-US" sz="1800"/>
              <a:t>The dashboard transforms raw data into compelling visual stories that guide educational interventions.</a:t>
            </a:r>
            <a:endParaRPr lang="en-US" sz="160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67A441C-3123-6512-B384-AC3910922240}"/>
              </a:ext>
            </a:extLst>
          </p:cNvPr>
          <p:cNvSpPr txBox="1">
            <a:spLocks/>
          </p:cNvSpPr>
          <p:nvPr/>
        </p:nvSpPr>
        <p:spPr>
          <a:xfrm>
            <a:off x="3111068" y="4228570"/>
            <a:ext cx="2637630" cy="2179387"/>
          </a:xfrm>
          <a:prstGeom prst="rect">
            <a:avLst/>
          </a:pr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494959418">
                  <a:custGeom>
                    <a:avLst/>
                    <a:gdLst>
                      <a:gd name="connsiteX0" fmla="*/ 0 w 2637630"/>
                      <a:gd name="connsiteY0" fmla="*/ 0 h 1639139"/>
                      <a:gd name="connsiteX1" fmla="*/ 659408 w 2637630"/>
                      <a:gd name="connsiteY1" fmla="*/ 0 h 1639139"/>
                      <a:gd name="connsiteX2" fmla="*/ 1266062 w 2637630"/>
                      <a:gd name="connsiteY2" fmla="*/ 0 h 1639139"/>
                      <a:gd name="connsiteX3" fmla="*/ 1872717 w 2637630"/>
                      <a:gd name="connsiteY3" fmla="*/ 0 h 1639139"/>
                      <a:gd name="connsiteX4" fmla="*/ 2637630 w 2637630"/>
                      <a:gd name="connsiteY4" fmla="*/ 0 h 1639139"/>
                      <a:gd name="connsiteX5" fmla="*/ 2637630 w 2637630"/>
                      <a:gd name="connsiteY5" fmla="*/ 546380 h 1639139"/>
                      <a:gd name="connsiteX6" fmla="*/ 2637630 w 2637630"/>
                      <a:gd name="connsiteY6" fmla="*/ 1076368 h 1639139"/>
                      <a:gd name="connsiteX7" fmla="*/ 2637630 w 2637630"/>
                      <a:gd name="connsiteY7" fmla="*/ 1639139 h 1639139"/>
                      <a:gd name="connsiteX8" fmla="*/ 2057351 w 2637630"/>
                      <a:gd name="connsiteY8" fmla="*/ 1639139 h 1639139"/>
                      <a:gd name="connsiteX9" fmla="*/ 1345191 w 2637630"/>
                      <a:gd name="connsiteY9" fmla="*/ 1639139 h 1639139"/>
                      <a:gd name="connsiteX10" fmla="*/ 633031 w 2637630"/>
                      <a:gd name="connsiteY10" fmla="*/ 1639139 h 1639139"/>
                      <a:gd name="connsiteX11" fmla="*/ 0 w 2637630"/>
                      <a:gd name="connsiteY11" fmla="*/ 1639139 h 1639139"/>
                      <a:gd name="connsiteX12" fmla="*/ 0 w 2637630"/>
                      <a:gd name="connsiteY12" fmla="*/ 1125542 h 1639139"/>
                      <a:gd name="connsiteX13" fmla="*/ 0 w 2637630"/>
                      <a:gd name="connsiteY13" fmla="*/ 579162 h 1639139"/>
                      <a:gd name="connsiteX14" fmla="*/ 0 w 2637630"/>
                      <a:gd name="connsiteY14" fmla="*/ 0 h 16391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637630" h="1639139" fill="none" extrusionOk="0">
                        <a:moveTo>
                          <a:pt x="0" y="0"/>
                        </a:moveTo>
                        <a:cubicBezTo>
                          <a:pt x="191985" y="-20940"/>
                          <a:pt x="346144" y="-24104"/>
                          <a:pt x="659408" y="0"/>
                        </a:cubicBezTo>
                        <a:cubicBezTo>
                          <a:pt x="972672" y="24104"/>
                          <a:pt x="1123997" y="11407"/>
                          <a:pt x="1266062" y="0"/>
                        </a:cubicBezTo>
                        <a:cubicBezTo>
                          <a:pt x="1408127" y="-11407"/>
                          <a:pt x="1683225" y="-18453"/>
                          <a:pt x="1872717" y="0"/>
                        </a:cubicBezTo>
                        <a:cubicBezTo>
                          <a:pt x="2062210" y="18453"/>
                          <a:pt x="2380490" y="-9875"/>
                          <a:pt x="2637630" y="0"/>
                        </a:cubicBezTo>
                        <a:cubicBezTo>
                          <a:pt x="2661789" y="205061"/>
                          <a:pt x="2656455" y="421186"/>
                          <a:pt x="2637630" y="546380"/>
                        </a:cubicBezTo>
                        <a:cubicBezTo>
                          <a:pt x="2618805" y="671574"/>
                          <a:pt x="2637863" y="896067"/>
                          <a:pt x="2637630" y="1076368"/>
                        </a:cubicBezTo>
                        <a:cubicBezTo>
                          <a:pt x="2637397" y="1256669"/>
                          <a:pt x="2660002" y="1437586"/>
                          <a:pt x="2637630" y="1639139"/>
                        </a:cubicBezTo>
                        <a:cubicBezTo>
                          <a:pt x="2458017" y="1665266"/>
                          <a:pt x="2298148" y="1624761"/>
                          <a:pt x="2057351" y="1639139"/>
                        </a:cubicBezTo>
                        <a:cubicBezTo>
                          <a:pt x="1816554" y="1653517"/>
                          <a:pt x="1597557" y="1658440"/>
                          <a:pt x="1345191" y="1639139"/>
                        </a:cubicBezTo>
                        <a:cubicBezTo>
                          <a:pt x="1092825" y="1619838"/>
                          <a:pt x="784856" y="1614857"/>
                          <a:pt x="633031" y="1639139"/>
                        </a:cubicBezTo>
                        <a:cubicBezTo>
                          <a:pt x="481206" y="1663421"/>
                          <a:pt x="184511" y="1626474"/>
                          <a:pt x="0" y="1639139"/>
                        </a:cubicBezTo>
                        <a:cubicBezTo>
                          <a:pt x="-17371" y="1483649"/>
                          <a:pt x="-23458" y="1230097"/>
                          <a:pt x="0" y="1125542"/>
                        </a:cubicBezTo>
                        <a:cubicBezTo>
                          <a:pt x="23458" y="1020987"/>
                          <a:pt x="-7398" y="764890"/>
                          <a:pt x="0" y="579162"/>
                        </a:cubicBezTo>
                        <a:cubicBezTo>
                          <a:pt x="7398" y="393434"/>
                          <a:pt x="-7506" y="125420"/>
                          <a:pt x="0" y="0"/>
                        </a:cubicBezTo>
                        <a:close/>
                      </a:path>
                      <a:path w="2637630" h="1639139" stroke="0" extrusionOk="0">
                        <a:moveTo>
                          <a:pt x="0" y="0"/>
                        </a:moveTo>
                        <a:cubicBezTo>
                          <a:pt x="294727" y="-34642"/>
                          <a:pt x="407575" y="-23072"/>
                          <a:pt x="712160" y="0"/>
                        </a:cubicBezTo>
                        <a:cubicBezTo>
                          <a:pt x="1016745" y="23072"/>
                          <a:pt x="1130854" y="-27704"/>
                          <a:pt x="1397944" y="0"/>
                        </a:cubicBezTo>
                        <a:cubicBezTo>
                          <a:pt x="1665034" y="27704"/>
                          <a:pt x="1815676" y="-29093"/>
                          <a:pt x="2004599" y="0"/>
                        </a:cubicBezTo>
                        <a:cubicBezTo>
                          <a:pt x="2193523" y="29093"/>
                          <a:pt x="2335556" y="-24752"/>
                          <a:pt x="2637630" y="0"/>
                        </a:cubicBezTo>
                        <a:cubicBezTo>
                          <a:pt x="2636158" y="116117"/>
                          <a:pt x="2615880" y="379993"/>
                          <a:pt x="2637630" y="546380"/>
                        </a:cubicBezTo>
                        <a:cubicBezTo>
                          <a:pt x="2659380" y="712767"/>
                          <a:pt x="2617345" y="970816"/>
                          <a:pt x="2637630" y="1092759"/>
                        </a:cubicBezTo>
                        <a:cubicBezTo>
                          <a:pt x="2657915" y="1214702"/>
                          <a:pt x="2638956" y="1494963"/>
                          <a:pt x="2637630" y="1639139"/>
                        </a:cubicBezTo>
                        <a:cubicBezTo>
                          <a:pt x="2427252" y="1635621"/>
                          <a:pt x="2200021" y="1625366"/>
                          <a:pt x="2057351" y="1639139"/>
                        </a:cubicBezTo>
                        <a:cubicBezTo>
                          <a:pt x="1914681" y="1652912"/>
                          <a:pt x="1527193" y="1619830"/>
                          <a:pt x="1371568" y="1639139"/>
                        </a:cubicBezTo>
                        <a:cubicBezTo>
                          <a:pt x="1215943" y="1658448"/>
                          <a:pt x="857752" y="1610599"/>
                          <a:pt x="712160" y="1639139"/>
                        </a:cubicBezTo>
                        <a:cubicBezTo>
                          <a:pt x="566568" y="1667679"/>
                          <a:pt x="346768" y="1667951"/>
                          <a:pt x="0" y="1639139"/>
                        </a:cubicBezTo>
                        <a:cubicBezTo>
                          <a:pt x="3404" y="1499800"/>
                          <a:pt x="-22805" y="1245776"/>
                          <a:pt x="0" y="1076368"/>
                        </a:cubicBezTo>
                        <a:cubicBezTo>
                          <a:pt x="22805" y="906960"/>
                          <a:pt x="10783" y="674814"/>
                          <a:pt x="0" y="497205"/>
                        </a:cubicBezTo>
                        <a:cubicBezTo>
                          <a:pt x="-10783" y="319596"/>
                          <a:pt x="-4868" y="17636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152400" tIns="152400" rIns="152400" bIns="1524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/>
              <a:t>To build </a:t>
            </a:r>
            <a:r>
              <a:rPr lang="en-US" sz="1800" dirty="0"/>
              <a:t>an </a:t>
            </a:r>
            <a:r>
              <a:rPr lang="en-US" sz="1800"/>
              <a:t>interactive dashboard that presents actionable insights on the correlation between student </a:t>
            </a:r>
            <a:r>
              <a:rPr lang="en-US" sz="1800" dirty="0"/>
              <a:t>habits </a:t>
            </a:r>
            <a:r>
              <a:rPr lang="en-US" sz="1800"/>
              <a:t>and </a:t>
            </a:r>
            <a:r>
              <a:rPr lang="en-US" sz="1800" dirty="0"/>
              <a:t>academic </a:t>
            </a:r>
            <a:r>
              <a:rPr lang="en-US" sz="1800"/>
              <a:t>results</a:t>
            </a:r>
            <a:r>
              <a:rPr lang="en-US" sz="1800" dirty="0"/>
              <a:t>.</a:t>
            </a:r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E5E774-D5E3-690A-E519-773AA39E8DE1}"/>
              </a:ext>
            </a:extLst>
          </p:cNvPr>
          <p:cNvCxnSpPr>
            <a:cxnSpLocks/>
          </p:cNvCxnSpPr>
          <p:nvPr/>
        </p:nvCxnSpPr>
        <p:spPr>
          <a:xfrm>
            <a:off x="2954977" y="1448271"/>
            <a:ext cx="0" cy="51503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02B268-18F1-6A20-6F1A-EC01F6AB3405}"/>
              </a:ext>
            </a:extLst>
          </p:cNvPr>
          <p:cNvCxnSpPr>
            <a:cxnSpLocks/>
          </p:cNvCxnSpPr>
          <p:nvPr/>
        </p:nvCxnSpPr>
        <p:spPr>
          <a:xfrm>
            <a:off x="5823234" y="1416772"/>
            <a:ext cx="0" cy="51503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ECDD51-2B37-8129-20D8-F3AA2395B867}"/>
              </a:ext>
            </a:extLst>
          </p:cNvPr>
          <p:cNvCxnSpPr>
            <a:cxnSpLocks/>
          </p:cNvCxnSpPr>
          <p:nvPr/>
        </p:nvCxnSpPr>
        <p:spPr>
          <a:xfrm>
            <a:off x="8816403" y="1448271"/>
            <a:ext cx="0" cy="51503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9E0554-FBB2-B1B2-69EA-B038C1EC40A6}"/>
              </a:ext>
            </a:extLst>
          </p:cNvPr>
          <p:cNvSpPr txBox="1"/>
          <p:nvPr/>
        </p:nvSpPr>
        <p:spPr>
          <a:xfrm>
            <a:off x="536996" y="3792622"/>
            <a:ext cx="1880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2: Problem logo</a:t>
            </a:r>
            <a:endParaRPr lang="en-AE" sz="9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6C4FDA-19B3-96FA-38BD-43BDCFD454D6}"/>
              </a:ext>
            </a:extLst>
          </p:cNvPr>
          <p:cNvSpPr txBox="1"/>
          <p:nvPr/>
        </p:nvSpPr>
        <p:spPr>
          <a:xfrm>
            <a:off x="3373570" y="3785944"/>
            <a:ext cx="1880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3: Goal logo</a:t>
            </a:r>
            <a:endParaRPr lang="en-AE" sz="9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1AE715-0EB1-62B9-E46D-160B2222D69C}"/>
              </a:ext>
            </a:extLst>
          </p:cNvPr>
          <p:cNvSpPr txBox="1"/>
          <p:nvPr/>
        </p:nvSpPr>
        <p:spPr>
          <a:xfrm>
            <a:off x="6393289" y="3819470"/>
            <a:ext cx="1880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4: Central message logo</a:t>
            </a:r>
            <a:endParaRPr lang="en-AE" sz="9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EA35BF-8928-BA1C-583E-5E6C53F9448C}"/>
              </a:ext>
            </a:extLst>
          </p:cNvPr>
          <p:cNvSpPr txBox="1"/>
          <p:nvPr/>
        </p:nvSpPr>
        <p:spPr>
          <a:xfrm>
            <a:off x="9504768" y="3876539"/>
            <a:ext cx="1880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5: Target audience logo</a:t>
            </a:r>
            <a:endParaRPr lang="en-AE" sz="9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064EC-2A45-26FD-318D-AE921A5C82C9}"/>
              </a:ext>
            </a:extLst>
          </p:cNvPr>
          <p:cNvSpPr txBox="1"/>
          <p:nvPr/>
        </p:nvSpPr>
        <p:spPr>
          <a:xfrm>
            <a:off x="10176281" y="6467833"/>
            <a:ext cx="1862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1100" i="1"/>
              <a:t>https://icons8.com/icons</a:t>
            </a:r>
          </a:p>
        </p:txBody>
      </p:sp>
    </p:spTree>
    <p:extLst>
      <p:ext uri="{BB962C8B-B14F-4D97-AF65-F5344CB8AC3E}">
        <p14:creationId xmlns:p14="http://schemas.microsoft.com/office/powerpoint/2010/main" val="22780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B532-6B1E-FC30-3770-D2404569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&amp; work allocation</a:t>
            </a: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6260E2-A841-255B-39F3-54EC241E6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379013"/>
              </p:ext>
            </p:extLst>
          </p:nvPr>
        </p:nvGraphicFramePr>
        <p:xfrm>
          <a:off x="1912247" y="1498745"/>
          <a:ext cx="8007446" cy="457547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521254">
                  <a:extLst>
                    <a:ext uri="{9D8B030D-6E8A-4147-A177-3AD203B41FA5}">
                      <a16:colId xmlns:a16="http://schemas.microsoft.com/office/drawing/2014/main" val="918816034"/>
                    </a:ext>
                  </a:extLst>
                </a:gridCol>
                <a:gridCol w="5486192">
                  <a:extLst>
                    <a:ext uri="{9D8B030D-6E8A-4147-A177-3AD203B41FA5}">
                      <a16:colId xmlns:a16="http://schemas.microsoft.com/office/drawing/2014/main" val="2949807210"/>
                    </a:ext>
                  </a:extLst>
                </a:gridCol>
              </a:tblGrid>
              <a:tr h="76257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Group Member</a:t>
                      </a:r>
                      <a:endParaRPr lang="en-A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Primary Roles</a:t>
                      </a:r>
                      <a:endParaRPr lang="en-A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736325"/>
                  </a:ext>
                </a:extLst>
              </a:tr>
              <a:tr h="76257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Wadiqa Baig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UI/UX, Introduction, Pre-Processing</a:t>
                      </a:r>
                      <a:endParaRPr lang="en-A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00255"/>
                  </a:ext>
                </a:extLst>
              </a:tr>
              <a:tr h="76257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Areeba Shoaib</a:t>
                      </a:r>
                      <a:endParaRPr lang="en-A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Analysis, Setup Documentation</a:t>
                      </a:r>
                      <a:endParaRPr lang="en-A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650248"/>
                  </a:ext>
                </a:extLst>
              </a:tr>
              <a:tr h="76257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Warda Baig</a:t>
                      </a:r>
                      <a:endParaRPr lang="en-A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UI/UX, Presentation</a:t>
                      </a:r>
                      <a:endParaRPr lang="en-A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112181"/>
                  </a:ext>
                </a:extLst>
              </a:tr>
              <a:tr h="76257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Lidya Tesfay</a:t>
                      </a:r>
                      <a:endParaRPr lang="en-A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UI/UX, EDA, Video presentation</a:t>
                      </a:r>
                      <a:endParaRPr lang="en-A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86552"/>
                  </a:ext>
                </a:extLst>
              </a:tr>
              <a:tr h="76257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Hiba Zubairi</a:t>
                      </a:r>
                      <a:endParaRPr lang="en-AE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Visuals, Summary</a:t>
                      </a:r>
                      <a:endParaRPr lang="en-A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83593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FD109F-F171-7409-95B5-4EC1D4E32C37}"/>
              </a:ext>
            </a:extLst>
          </p:cNvPr>
          <p:cNvSpPr txBox="1"/>
          <p:nvPr/>
        </p:nvSpPr>
        <p:spPr>
          <a:xfrm>
            <a:off x="5032625" y="6245423"/>
            <a:ext cx="2126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Table 1: Work allocation</a:t>
            </a:r>
            <a:endParaRPr lang="en-AE" sz="1400" i="1" dirty="0"/>
          </a:p>
        </p:txBody>
      </p:sp>
    </p:spTree>
    <p:extLst>
      <p:ext uri="{BB962C8B-B14F-4D97-AF65-F5344CB8AC3E}">
        <p14:creationId xmlns:p14="http://schemas.microsoft.com/office/powerpoint/2010/main" val="163724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5C13-B5E2-775E-C9B2-408F619C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  <a:endParaRPr lang="en-AE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392D1FA-8E58-24C5-FBBB-E71AF6EA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234" y="1681499"/>
            <a:ext cx="1717158" cy="1700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DEC805-E1FE-EDB7-8FD2-DD2A9C132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064" y="1768379"/>
            <a:ext cx="1319156" cy="1526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D97FCB-9427-03C7-5D10-439897D4E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406" y="1975849"/>
            <a:ext cx="1319156" cy="1111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39C58C-0D54-54AF-E9C9-C43C057C760F}"/>
              </a:ext>
            </a:extLst>
          </p:cNvPr>
          <p:cNvSpPr txBox="1"/>
          <p:nvPr/>
        </p:nvSpPr>
        <p:spPr>
          <a:xfrm>
            <a:off x="938978" y="3963258"/>
            <a:ext cx="3085659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000" b="1" dirty="0"/>
              <a:t>Interactive Dashboard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An interactive Dash application to explore academic, lifestyle, and socioeconomic </a:t>
            </a:r>
            <a:r>
              <a:rPr lang="en-US"/>
              <a:t>variables</a:t>
            </a:r>
            <a:r>
              <a:rPr lang="en-US" dirty="0"/>
              <a:t>.</a:t>
            </a:r>
            <a:endParaRPr lang="en-A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A74FF-490C-EE40-76AF-203433EBE103}"/>
              </a:ext>
            </a:extLst>
          </p:cNvPr>
          <p:cNvSpPr txBox="1"/>
          <p:nvPr/>
        </p:nvSpPr>
        <p:spPr>
          <a:xfrm>
            <a:off x="4601951" y="3963257"/>
            <a:ext cx="2951747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000" b="1" dirty="0"/>
              <a:t>Documentation</a:t>
            </a:r>
            <a:endParaRPr lang="en-GB" b="1" dirty="0"/>
          </a:p>
          <a:p>
            <a:pPr algn="ctr"/>
            <a:endParaRPr lang="en-US" dirty="0"/>
          </a:p>
          <a:p>
            <a:pPr algn="ctr"/>
            <a:endParaRPr lang="en-US"/>
          </a:p>
          <a:p>
            <a:pPr algn="ctr"/>
            <a:r>
              <a:rPr lang="en-US" dirty="0"/>
              <a:t>A setup documentation to install and run the dashboard locally.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C74FE-B4D4-8BA6-7D62-E8F7C7627FEA}"/>
              </a:ext>
            </a:extLst>
          </p:cNvPr>
          <p:cNvSpPr txBox="1"/>
          <p:nvPr/>
        </p:nvSpPr>
        <p:spPr>
          <a:xfrm>
            <a:off x="8146418" y="3963258"/>
            <a:ext cx="2962952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 dirty="0">
                <a:cs typeface="Arial"/>
              </a:rPr>
              <a:t>Content</a:t>
            </a:r>
            <a:endParaRPr lang="en-US" b="1" dirty="0"/>
          </a:p>
          <a:p>
            <a:pPr algn="ctr"/>
            <a:endParaRPr lang="en-US" dirty="0"/>
          </a:p>
          <a:p>
            <a:pPr algn="ctr"/>
            <a:endParaRPr lang="en-US"/>
          </a:p>
          <a:p>
            <a:pPr algn="ctr"/>
            <a:r>
              <a:rPr lang="en-US" dirty="0"/>
              <a:t>This presentation and a 5-minute video walkthrough of the dashboard.</a:t>
            </a:r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636A0-93D5-EC0E-4A45-706FA7071615}"/>
              </a:ext>
            </a:extLst>
          </p:cNvPr>
          <p:cNvSpPr txBox="1"/>
          <p:nvPr/>
        </p:nvSpPr>
        <p:spPr>
          <a:xfrm>
            <a:off x="1640368" y="3344618"/>
            <a:ext cx="1880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6: Interactive logo</a:t>
            </a:r>
            <a:endParaRPr lang="en-AE" sz="9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AD152-E474-CBC6-5ABD-3988CEBBA2AA}"/>
              </a:ext>
            </a:extLst>
          </p:cNvPr>
          <p:cNvSpPr txBox="1"/>
          <p:nvPr/>
        </p:nvSpPr>
        <p:spPr>
          <a:xfrm>
            <a:off x="5091100" y="3381528"/>
            <a:ext cx="21678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7: Document logo</a:t>
            </a:r>
            <a:endParaRPr lang="en-AE" sz="9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32B57-9301-46F6-698F-E16216CC2B84}"/>
              </a:ext>
            </a:extLst>
          </p:cNvPr>
          <p:cNvSpPr txBox="1"/>
          <p:nvPr/>
        </p:nvSpPr>
        <p:spPr>
          <a:xfrm>
            <a:off x="8820655" y="3344617"/>
            <a:ext cx="16986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/>
              <a:t>Figure 8: Camera logo</a:t>
            </a:r>
            <a:endParaRPr lang="en-AE" sz="9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8207C-6B49-6544-E1C4-674EEF0F412E}"/>
              </a:ext>
            </a:extLst>
          </p:cNvPr>
          <p:cNvSpPr txBox="1"/>
          <p:nvPr/>
        </p:nvSpPr>
        <p:spPr>
          <a:xfrm>
            <a:off x="10176281" y="6467833"/>
            <a:ext cx="1862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1100" i="1"/>
              <a:t>https://icons8.com/icons</a:t>
            </a:r>
          </a:p>
        </p:txBody>
      </p:sp>
    </p:spTree>
    <p:extLst>
      <p:ext uri="{BB962C8B-B14F-4D97-AF65-F5344CB8AC3E}">
        <p14:creationId xmlns:p14="http://schemas.microsoft.com/office/powerpoint/2010/main" val="377049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5B91-98F8-DA19-FE38-681B5E75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10" y="1711534"/>
            <a:ext cx="8416672" cy="1483330"/>
          </a:xfrm>
        </p:spPr>
        <p:txBody>
          <a:bodyPr/>
          <a:lstStyle/>
          <a:p>
            <a:pPr algn="ctr"/>
            <a:r>
              <a:rPr lang="en-US" sz="6600"/>
              <a:t>Live Demonstration</a:t>
            </a:r>
            <a:endParaRPr lang="en-AE" sz="6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34E10-176C-A312-DF8E-CBE3DE57E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3926" y="2453199"/>
            <a:ext cx="7467497" cy="22220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/>
              <a:t>We will now continue to a 20-minute live demonstration of the </a:t>
            </a:r>
            <a:r>
              <a:rPr lang="en-US" sz="1800" b="1" err="1"/>
              <a:t>DataTales</a:t>
            </a:r>
            <a:r>
              <a:rPr lang="en-US" sz="1800" b="1"/>
              <a:t> dashboard!</a:t>
            </a:r>
            <a:endParaRPr lang="en-US" sz="18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761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965DC-73CC-044B-F366-3EB90B8C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CCE3D-E6FD-C1F7-1612-D14C17111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042" y="5352871"/>
            <a:ext cx="5079317" cy="1200329"/>
          </a:xfrm>
        </p:spPr>
        <p:txBody>
          <a:bodyPr vert="horz" lIns="152400" tIns="152400" rIns="152400" bIns="152400" rtlCol="0" anchor="t">
            <a:normAutofit/>
          </a:bodyPr>
          <a:lstStyle/>
          <a:p>
            <a:pPr marL="0" indent="0" algn="ctr">
              <a:buNone/>
            </a:pPr>
            <a:r>
              <a:rPr lang="en-US" sz="2000"/>
              <a:t>Higher attendance percentage groups consistently shows </a:t>
            </a:r>
            <a:r>
              <a:rPr lang="en-US" sz="2000" b="1"/>
              <a:t>higher</a:t>
            </a:r>
            <a:r>
              <a:rPr lang="en-US" sz="2000"/>
              <a:t> overall exam scores. </a:t>
            </a:r>
            <a:endParaRPr lang="en-US" sz="200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63C7E-5F91-CEF5-B779-C772DBC4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51" r="3151" b="3493"/>
          <a:stretch>
            <a:fillRect/>
          </a:stretch>
        </p:blipFill>
        <p:spPr>
          <a:xfrm>
            <a:off x="477227" y="1630363"/>
            <a:ext cx="5568597" cy="3199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03B942-2C5D-CDD3-670D-A28168934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646" y="1379752"/>
            <a:ext cx="3921477" cy="3450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9D1C0-8551-7E34-0584-96C3EA01ACB1}"/>
              </a:ext>
            </a:extLst>
          </p:cNvPr>
          <p:cNvSpPr txBox="1"/>
          <p:nvPr/>
        </p:nvSpPr>
        <p:spPr>
          <a:xfrm>
            <a:off x="6599602" y="5502279"/>
            <a:ext cx="48203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u="none" strike="noStrike">
                <a:solidFill>
                  <a:srgbClr val="0B1213"/>
                </a:solidFill>
                <a:effectLst/>
                <a:latin typeface="Arial" panose="020B0604020202020204" pitchFamily="34" charset="0"/>
              </a:rPr>
              <a:t>Students using 0–2 hours of social media have the </a:t>
            </a:r>
            <a:r>
              <a:rPr lang="en-US" sz="2000" b="1" i="0" u="none" strike="noStrike">
                <a:solidFill>
                  <a:srgbClr val="0B1213"/>
                </a:solidFill>
                <a:effectLst/>
                <a:latin typeface="Arial" panose="020B0604020202020204" pitchFamily="34" charset="0"/>
              </a:rPr>
              <a:t>highest</a:t>
            </a:r>
            <a:r>
              <a:rPr lang="en-US" sz="2000" b="0" i="0" u="none" strike="noStrike">
                <a:solidFill>
                  <a:srgbClr val="0B1213"/>
                </a:solidFill>
                <a:effectLst/>
                <a:latin typeface="Arial" panose="020B0604020202020204" pitchFamily="34" charset="0"/>
              </a:rPr>
              <a:t> average exam score</a:t>
            </a:r>
            <a:endParaRPr lang="en-AE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ECC56-498A-BFFA-011B-D61E4BE07BC3}"/>
              </a:ext>
            </a:extLst>
          </p:cNvPr>
          <p:cNvSpPr txBox="1"/>
          <p:nvPr/>
        </p:nvSpPr>
        <p:spPr>
          <a:xfrm>
            <a:off x="1900589" y="4952906"/>
            <a:ext cx="2822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Figure 9 : Attendance Impact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78DB3-19BD-02E0-F054-2473D8DAEE5E}"/>
              </a:ext>
            </a:extLst>
          </p:cNvPr>
          <p:cNvSpPr txBox="1"/>
          <p:nvPr/>
        </p:nvSpPr>
        <p:spPr>
          <a:xfrm>
            <a:off x="7772401" y="4837925"/>
            <a:ext cx="2822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Figure 10 : Study Efficiency Analysis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07749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8A173-AA46-C001-5743-E5E21C1B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7B97-AE2F-61D0-2976-FC499BFA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B3228-92FC-9086-DD5F-B2B782C6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6889" y="5030711"/>
            <a:ext cx="4714602" cy="1495778"/>
          </a:xfrm>
        </p:spPr>
        <p:txBody>
          <a:bodyPr vert="horz" lIns="152400" tIns="152400" rIns="152400" bIns="152400" rtlCol="0" anchor="t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/>
              <a:t>While "Good" diet correlates with top scores, the "Fair" diet group also contains a significant 29% of students achieving the highest grades (80–100), which indicates that other factors impact </a:t>
            </a:r>
            <a:r>
              <a:rPr lang="en-US" sz="1800" b="1"/>
              <a:t>greatly.</a:t>
            </a:r>
            <a:endParaRPr lang="en-US" sz="180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AD17C-FA67-B541-8F8C-A37F69361FC0}"/>
              </a:ext>
            </a:extLst>
          </p:cNvPr>
          <p:cNvSpPr txBox="1"/>
          <p:nvPr/>
        </p:nvSpPr>
        <p:spPr>
          <a:xfrm>
            <a:off x="760509" y="5030711"/>
            <a:ext cx="40978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/>
              <a:t>Social media use is high across university ages, but </a:t>
            </a:r>
            <a:r>
              <a:rPr lang="en-US" sz="2000" b="1"/>
              <a:t>mostly</a:t>
            </a:r>
            <a:r>
              <a:rPr lang="en-US" sz="2000"/>
              <a:t> around 18 years old.</a:t>
            </a:r>
          </a:p>
        </p:txBody>
      </p:sp>
      <p:pic>
        <p:nvPicPr>
          <p:cNvPr id="9" name="Picture 8" descr="A colorful circle with numbers and text&#10;&#10;AI-generated content may be incorrect.">
            <a:extLst>
              <a:ext uri="{FF2B5EF4-FFF2-40B4-BE49-F238E27FC236}">
                <a16:creationId xmlns:a16="http://schemas.microsoft.com/office/drawing/2014/main" id="{3CE90CE3-D26C-5BB5-B3A1-5277C3529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0" t="9292" r="28733" b="3435"/>
          <a:stretch>
            <a:fillRect/>
          </a:stretch>
        </p:blipFill>
        <p:spPr>
          <a:xfrm>
            <a:off x="7652659" y="1414240"/>
            <a:ext cx="2975231" cy="2889955"/>
          </a:xfrm>
          <a:prstGeom prst="rect">
            <a:avLst/>
          </a:prstGeom>
        </p:spPr>
      </p:pic>
      <p:pic>
        <p:nvPicPr>
          <p:cNvPr id="18" name="Picture 17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5296F6BF-684A-E037-910E-2607EA55C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90" y="1606152"/>
            <a:ext cx="5707390" cy="28899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76B4E7-748D-C59A-3E11-D43A90865D30}"/>
              </a:ext>
            </a:extLst>
          </p:cNvPr>
          <p:cNvSpPr txBox="1"/>
          <p:nvPr/>
        </p:nvSpPr>
        <p:spPr>
          <a:xfrm>
            <a:off x="1597376" y="4491561"/>
            <a:ext cx="293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Figure 11 : Age &amp; Social Media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38AD04-7201-3F07-554C-70F57D4068F0}"/>
              </a:ext>
            </a:extLst>
          </p:cNvPr>
          <p:cNvSpPr txBox="1"/>
          <p:nvPr/>
        </p:nvSpPr>
        <p:spPr>
          <a:xfrm>
            <a:off x="7818178" y="4630060"/>
            <a:ext cx="2851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Figure 12: Diet Quality Impact Analysis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45200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2EA6-3F53-43B3-2DA7-89BF0064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2370-883C-D53E-040E-E0348C46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Findings</a:t>
            </a:r>
            <a:endParaRPr lang="en-A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6224F-41DD-D8DE-BC33-492CEF1699BD}"/>
              </a:ext>
            </a:extLst>
          </p:cNvPr>
          <p:cNvSpPr txBox="1"/>
          <p:nvPr/>
        </p:nvSpPr>
        <p:spPr>
          <a:xfrm>
            <a:off x="2470935" y="5320194"/>
            <a:ext cx="6460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Students without a part-time job show a </a:t>
            </a:r>
            <a:r>
              <a:rPr lang="en-US" sz="2000" b="1" dirty="0"/>
              <a:t>slight advantage </a:t>
            </a:r>
            <a:r>
              <a:rPr lang="en-US" sz="2000" dirty="0"/>
              <a:t>in exam scores</a:t>
            </a:r>
            <a:endParaRPr lang="en-AE" sz="2000" dirty="0"/>
          </a:p>
        </p:txBody>
      </p:sp>
      <p:pic>
        <p:nvPicPr>
          <p:cNvPr id="16" name="Picture 15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A0EBFC7B-4E92-870A-A641-B0BBE4EA5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4" y="1600865"/>
            <a:ext cx="9250312" cy="31311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7233CA-E561-CFBC-EC86-5B214CA6E26E}"/>
              </a:ext>
            </a:extLst>
          </p:cNvPr>
          <p:cNvSpPr txBox="1"/>
          <p:nvPr/>
        </p:nvSpPr>
        <p:spPr>
          <a:xfrm>
            <a:off x="4507087" y="4593515"/>
            <a:ext cx="3177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Figure 13: Part-Time Work Impact Analysis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824640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22CF4E-A593-DCCF-6D63-580F9F357A02}"/>
              </a:ext>
            </a:extLst>
          </p:cNvPr>
          <p:cNvSpPr txBox="1"/>
          <p:nvPr/>
        </p:nvSpPr>
        <p:spPr>
          <a:xfrm>
            <a:off x="880534" y="3556000"/>
            <a:ext cx="295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>
                <a:solidFill>
                  <a:schemeClr val="bg1"/>
                </a:solidFill>
              </a:rPr>
              <a:t>DataTales</a:t>
            </a:r>
          </a:p>
        </p:txBody>
      </p:sp>
    </p:spTree>
    <p:extLst>
      <p:ext uri="{BB962C8B-B14F-4D97-AF65-F5344CB8AC3E}">
        <p14:creationId xmlns:p14="http://schemas.microsoft.com/office/powerpoint/2010/main" val="2836695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urdoch University">
      <a:dk1>
        <a:srgbClr val="0B1213"/>
      </a:dk1>
      <a:lt1>
        <a:srgbClr val="FFFFFF"/>
      </a:lt1>
      <a:dk2>
        <a:srgbClr val="E12744"/>
      </a:dk2>
      <a:lt2>
        <a:srgbClr val="E12744"/>
      </a:lt2>
      <a:accent1>
        <a:srgbClr val="F7A8AE"/>
      </a:accent1>
      <a:accent2>
        <a:srgbClr val="F3744A"/>
      </a:accent2>
      <a:accent3>
        <a:srgbClr val="AC1D43"/>
      </a:accent3>
      <a:accent4>
        <a:srgbClr val="EC008B"/>
      </a:accent4>
      <a:accent5>
        <a:srgbClr val="4ABD98"/>
      </a:accent5>
      <a:accent6>
        <a:srgbClr val="006472"/>
      </a:accent6>
      <a:hlink>
        <a:srgbClr val="006472"/>
      </a:hlink>
      <a:folHlink>
        <a:srgbClr val="AC1D43"/>
      </a:folHlink>
    </a:clrScheme>
    <a:fontScheme name="Murdoch Universit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01DFBA5D-20E9-8748-A999-CCFA5BC14B1C}" vid="{7FE713BD-5160-9443-AA8E-7B8A693752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324FD755ED74C82073F86230DBEDB" ma:contentTypeVersion="2" ma:contentTypeDescription="Create a new document." ma:contentTypeScope="" ma:versionID="394edd83a3496f27d8d325a879b55867">
  <xsd:schema xmlns:xsd="http://www.w3.org/2001/XMLSchema" xmlns:xs="http://www.w3.org/2001/XMLSchema" xmlns:p="http://schemas.microsoft.com/office/2006/metadata/properties" xmlns:ns2="a7ddd883-43c7-4615-ab75-c9ff0fb11fdb" targetNamespace="http://schemas.microsoft.com/office/2006/metadata/properties" ma:root="true" ma:fieldsID="4d9d4dbc657ca5eeda82acfcaac76288" ns2:_="">
    <xsd:import namespace="a7ddd883-43c7-4615-ab75-c9ff0fb11f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ddd883-43c7-4615-ab75-c9ff0fb11f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A5B8C-643B-4F1E-ADD6-8EC24B3EE718}">
  <ds:schemaRefs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a7ddd883-43c7-4615-ab75-c9ff0fb11fd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0A1BD61-BBBA-410E-8640-085831E664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ddd883-43c7-4615-ab75-c9ff0fb11f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A2C56C-EF6D-4CC5-97D6-6426C281B1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2289</TotalTime>
  <Words>399</Words>
  <Application>Microsoft Macintosh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ICT305: DataTales Dashboard</vt:lpstr>
      <vt:lpstr>Introduction to the case</vt:lpstr>
      <vt:lpstr>Group &amp; work allocation</vt:lpstr>
      <vt:lpstr>Project Deliverables</vt:lpstr>
      <vt:lpstr>Live Demonstration</vt:lpstr>
      <vt:lpstr>Key Findings</vt:lpstr>
      <vt:lpstr>Key Findings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Mohd Fairuz Shiratuddin</dc:creator>
  <cp:keywords>Group Project</cp:keywords>
  <cp:lastModifiedBy>Wadiqa Baig</cp:lastModifiedBy>
  <cp:revision>50</cp:revision>
  <dcterms:created xsi:type="dcterms:W3CDTF">2022-03-14T06:00:18Z</dcterms:created>
  <dcterms:modified xsi:type="dcterms:W3CDTF">2025-11-08T14:08:54Z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0x0101002F8324FD755ED74C82073F86230DBEDB</vt:lpwstr>
  </property>
</Properties>
</file>